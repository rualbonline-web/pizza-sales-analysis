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</p:sldIdLst>
  <p:sldSz cx="18288000" cy="10287000"/>
  <p:notesSz cx="6858000" cy="9144000"/>
  <p:embeddedFontLst>
    <p:embeddedFont>
      <p:font typeface="Montserrat" charset="1" panose="00000500000000000000"/>
      <p:regular r:id="rId18"/>
      <p:bold r:id="rId17"/>
    </p:embeddedFont>
    <p:embeddedFont>
      <p:font typeface="Montserrat Light" charset="1" panose="000004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6" Type="http://schemas.openxmlformats.org/officeDocument/2006/relationships/notesMaster" Target="notesMasters/notesMaster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699ACD"/>
              </a:solidFill>
              <a:ln>
                <a:noFill/>
              </a:ln>
            </c:spPr>
          </c:dPt>
          <c:dPt>
            <c:idx val="1"/>
            <c:spPr>
              <a:solidFill>
                <a:srgbClr val="699ACD"/>
              </a:solidFill>
              <a:ln>
                <a:noFill/>
              </a:ln>
            </c:spPr>
          </c:dPt>
          <c:dPt>
            <c:idx val="2"/>
            <c:spPr>
              <a:solidFill>
                <a:srgbClr val="699ACD"/>
              </a:solidFill>
              <a:ln>
                <a:noFill/>
              </a:ln>
            </c:spPr>
          </c:dPt>
          <c:dPt>
            <c:idx val="3"/>
            <c:spPr>
              <a:solidFill>
                <a:srgbClr val="699ACD"/>
              </a:solidFill>
              <a:ln>
                <a:noFill/>
              </a:ln>
            </c:spPr>
          </c:dPt>
          <c:dPt>
            <c:idx val="4"/>
            <c:spPr>
              <a:solidFill>
                <a:srgbClr val="699ACD"/>
              </a:solidFill>
              <a:ln>
                <a:noFill/>
              </a:ln>
            </c:spPr>
          </c:dPt>
          <c:dPt>
            <c:idx val="5"/>
            <c:spPr>
              <a:solidFill>
                <a:srgbClr val="699ACD"/>
              </a:solidFill>
              <a:ln>
                <a:noFill/>
              </a:ln>
            </c:spPr>
          </c:dPt>
          <c:dPt>
            <c:idx val="6"/>
            <c:spPr>
              <a:solidFill>
                <a:srgbClr val="164B82"/>
              </a:solidFill>
              <a:ln>
                <a:noFill/>
              </a:ln>
            </c:spPr>
          </c:dPt>
          <c:dPt>
            <c:idx val="7"/>
            <c:spPr>
              <a:solidFill>
                <a:srgbClr val="699ACD"/>
              </a:solidFill>
              <a:ln>
                <a:noFill/>
              </a:ln>
            </c:spPr>
          </c:dPt>
          <c:dPt>
            <c:idx val="8"/>
            <c:spPr>
              <a:solidFill>
                <a:srgbClr val="699ACD"/>
              </a:solidFill>
              <a:ln>
                <a:noFill/>
              </a:ln>
            </c:spPr>
          </c:dPt>
          <c:dPt>
            <c:idx val="9"/>
            <c:spPr>
              <a:solidFill>
                <a:srgbClr val="C9773F"/>
              </a:solidFill>
              <a:ln>
                <a:noFill/>
              </a:ln>
            </c:spPr>
          </c:dPt>
          <c:dPt>
            <c:idx val="10"/>
            <c:spPr>
              <a:solidFill>
                <a:srgbClr val="699ACD"/>
              </a:solidFill>
              <a:ln>
                <a:noFill/>
              </a:ln>
            </c:spPr>
          </c:dPt>
          <c:dPt>
            <c:idx val="11"/>
            <c:spPr>
              <a:solidFill>
                <a:srgbClr val="699ACD"/>
              </a:solidFill>
              <a:ln>
                <a:noFill/>
              </a:ln>
            </c:spPr>
          </c:dPt>
          <c:cat>
            <c:strRef>
              <c:f>Sheet1!$A$2:$A$13</c:f>
              <c:strCache>
                <c:ptCount val="12"/>
                <c:pt idx="0">
                  <c:v>Січ</c:v>
                </c:pt>
                <c:pt idx="1">
                  <c:v>Лют</c:v>
                </c:pt>
                <c:pt idx="2">
                  <c:v>Бер</c:v>
                </c:pt>
                <c:pt idx="3">
                  <c:v>Кві</c:v>
                </c:pt>
                <c:pt idx="4">
                  <c:v>Тра</c:v>
                </c:pt>
                <c:pt idx="5">
                  <c:v>Чер</c:v>
                </c:pt>
                <c:pt idx="6">
                  <c:v>Лип</c:v>
                </c:pt>
                <c:pt idx="7">
                  <c:v>Сер</c:v>
                </c:pt>
                <c:pt idx="8">
                  <c:v>Вер</c:v>
                </c:pt>
                <c:pt idx="9">
                  <c:v>Жов</c:v>
                </c:pt>
                <c:pt idx="10">
                  <c:v>Лис</c:v>
                </c:pt>
                <c:pt idx="11">
                  <c:v>Гру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69.7933</c:v>
                </c:pt>
                <c:pt idx="1">
                  <c:v>65.1596</c:v>
                </c:pt>
                <c:pt idx="2">
                  <c:v>70.39710000000001</c:v>
                </c:pt>
                <c:pt idx="3">
                  <c:v>68.7368</c:v>
                </c:pt>
                <c:pt idx="4">
                  <c:v>71.40275</c:v>
                </c:pt>
                <c:pt idx="5">
                  <c:v>68.2302</c:v>
                </c:pt>
                <c:pt idx="6">
                  <c:v>72.55789999999999</c:v>
                </c:pt>
                <c:pt idx="7">
                  <c:v>68.27825</c:v>
                </c:pt>
                <c:pt idx="8">
                  <c:v>64.18005000000001</c:v>
                </c:pt>
                <c:pt idx="9">
                  <c:v>64.02759999999999</c:v>
                </c:pt>
                <c:pt idx="10">
                  <c:v>70.39535000000001</c:v>
                </c:pt>
                <c:pt idx="11">
                  <c:v>64.70115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5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9D8E8"/>
            </a:solidFill>
          </a:ln>
        </c:spPr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500">
          <a:solidFill>
            <a:srgbClr val="343434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699ACD"/>
              </a:solidFill>
              <a:ln>
                <a:noFill/>
              </a:ln>
            </c:spPr>
          </c:dPt>
          <c:dPt>
            <c:idx val="1"/>
            <c:spPr>
              <a:solidFill>
                <a:srgbClr val="699ACD"/>
              </a:solidFill>
              <a:ln>
                <a:noFill/>
              </a:ln>
            </c:spPr>
          </c:dPt>
          <c:dPt>
            <c:idx val="2"/>
            <c:spPr>
              <a:solidFill>
                <a:srgbClr val="699ACD"/>
              </a:solidFill>
              <a:ln>
                <a:noFill/>
              </a:ln>
            </c:spPr>
          </c:dPt>
          <c:dPt>
            <c:idx val="3"/>
            <c:spPr>
              <a:solidFill>
                <a:srgbClr val="699ACD"/>
              </a:solidFill>
              <a:ln>
                <a:noFill/>
              </a:ln>
            </c:spPr>
          </c:dPt>
          <c:dPt>
            <c:idx val="4"/>
            <c:spPr>
              <a:solidFill>
                <a:srgbClr val="164B82"/>
              </a:solidFill>
              <a:ln>
                <a:noFill/>
              </a:ln>
            </c:spPr>
          </c:dPt>
          <c:dPt>
            <c:idx val="5"/>
            <c:spPr>
              <a:solidFill>
                <a:srgbClr val="699ACD"/>
              </a:solidFill>
              <a:ln>
                <a:noFill/>
              </a:ln>
            </c:spPr>
          </c:dPt>
          <c:dPt>
            <c:idx val="6"/>
            <c:spPr>
              <a:solidFill>
                <a:srgbClr val="C9773F"/>
              </a:solidFill>
              <a:ln>
                <a:noFill/>
              </a:ln>
            </c:spPr>
          </c:dPt>
          <c:cat>
            <c:strRef>
              <c:f>Sheet1!$A$2:$A$8</c:f>
              <c:strCache>
                <c:ptCount val="7"/>
                <c:pt idx="0">
                  <c:v>Пн</c:v>
                </c:pt>
                <c:pt idx="1">
                  <c:v>Вт</c:v>
                </c:pt>
                <c:pt idx="2">
                  <c:v>Ср</c:v>
                </c:pt>
                <c:pt idx="3">
                  <c:v>Чт</c:v>
                </c:pt>
                <c:pt idx="4">
                  <c:v>Пт</c:v>
                </c:pt>
                <c:pt idx="5">
                  <c:v>Сб</c:v>
                </c:pt>
                <c:pt idx="6">
                  <c:v>Нд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58.2</c:v>
                </c:pt>
                <c:pt idx="1">
                  <c:v>57.2</c:v>
                </c:pt>
                <c:pt idx="2">
                  <c:v>58.2</c:v>
                </c:pt>
                <c:pt idx="3">
                  <c:v>62.3</c:v>
                </c:pt>
                <c:pt idx="4">
                  <c:v>70.8</c:v>
                </c:pt>
                <c:pt idx="5">
                  <c:v>60.7</c:v>
                </c:pt>
                <c:pt idx="6">
                  <c:v>50.5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9D8E8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300">
          <a:solidFill>
            <a:srgbClr val="343434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64B82"/>
              </a:solidFill>
              <a:ln>
                <a:noFill/>
              </a:ln>
            </c:spPr>
          </c:dPt>
          <c:dPt>
            <c:idx val="1"/>
            <c:spPr>
              <a:solidFill>
                <a:srgbClr val="164B82"/>
              </a:solidFill>
              <a:ln>
                <a:noFill/>
              </a:ln>
            </c:spPr>
          </c:dPt>
          <c:dPt>
            <c:idx val="2"/>
            <c:spPr>
              <a:solidFill>
                <a:srgbClr val="699ACD"/>
              </a:solidFill>
              <a:ln>
                <a:noFill/>
              </a:ln>
            </c:spPr>
          </c:dPt>
          <c:dPt>
            <c:idx val="3"/>
            <c:spPr>
              <a:solidFill>
                <a:srgbClr val="164B82"/>
              </a:solidFill>
              <a:ln>
                <a:noFill/>
              </a:ln>
            </c:spPr>
          </c:dPt>
          <c:dPt>
            <c:idx val="4"/>
            <c:spPr>
              <a:solidFill>
                <a:srgbClr val="699ACD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Thai Chicken</c:v>
                </c:pt>
                <c:pt idx="1">
                  <c:v>Barbecue Chicken</c:v>
                </c:pt>
                <c:pt idx="2">
                  <c:v>California Chicken</c:v>
                </c:pt>
                <c:pt idx="3">
                  <c:v>Classic Deluxe</c:v>
                </c:pt>
                <c:pt idx="4">
                  <c:v>Spicy Italian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43.43425</c:v>
                </c:pt>
                <c:pt idx="1">
                  <c:v>42.768</c:v>
                </c:pt>
                <c:pt idx="2">
                  <c:v>41.4095</c:v>
                </c:pt>
                <c:pt idx="3">
                  <c:v>38.1805</c:v>
                </c:pt>
                <c:pt idx="4">
                  <c:v>34.83125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9D8E8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300">
          <a:solidFill>
            <a:srgbClr val="343434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C9773F"/>
              </a:solidFill>
              <a:ln>
                <a:noFill/>
              </a:ln>
            </c:spPr>
          </c:dPt>
          <c:dPt>
            <c:idx val="1"/>
            <c:spPr>
              <a:solidFill>
                <a:srgbClr val="E4B795"/>
              </a:solidFill>
              <a:ln>
                <a:noFill/>
              </a:ln>
            </c:spPr>
          </c:dPt>
          <c:dPt>
            <c:idx val="2"/>
            <c:spPr>
              <a:solidFill>
                <a:srgbClr val="C9773F"/>
              </a:solidFill>
              <a:ln>
                <a:noFill/>
              </a:ln>
            </c:spPr>
          </c:dPt>
          <c:dPt>
            <c:idx val="3"/>
            <c:spPr>
              <a:solidFill>
                <a:srgbClr val="C9773F"/>
              </a:solidFill>
              <a:ln>
                <a:noFill/>
              </a:ln>
            </c:spPr>
          </c:dPt>
          <c:dPt>
            <c:idx val="4"/>
            <c:spPr>
              <a:solidFill>
                <a:srgbClr val="E4B795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Brie Carre</c:v>
                </c:pt>
                <c:pt idx="1">
                  <c:v>Green Garden</c:v>
                </c:pt>
                <c:pt idx="2">
                  <c:v>Spinach Supreme</c:v>
                </c:pt>
                <c:pt idx="3">
                  <c:v>Mediterranean</c:v>
                </c:pt>
                <c:pt idx="4">
                  <c:v>Spinach Pesto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11.5885</c:v>
                </c:pt>
                <c:pt idx="1">
                  <c:v>13.95575</c:v>
                </c:pt>
                <c:pt idx="2">
                  <c:v>15.27775</c:v>
                </c:pt>
                <c:pt idx="3">
                  <c:v>15.3605</c:v>
                </c:pt>
                <c:pt idx="4">
                  <c:v>15.596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9D8E8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300">
          <a:solidFill>
            <a:srgbClr val="343434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64B82"/>
              </a:solidFill>
              <a:ln>
                <a:noFill/>
              </a:ln>
            </c:spPr>
          </c:dPt>
          <c:dPt>
            <c:idx val="1"/>
            <c:spPr>
              <a:solidFill>
                <a:srgbClr val="2F679F"/>
              </a:solidFill>
              <a:ln>
                <a:noFill/>
              </a:ln>
            </c:spPr>
          </c:dPt>
          <c:dPt>
            <c:idx val="2"/>
            <c:spPr>
              <a:solidFill>
                <a:srgbClr val="699ACD"/>
              </a:solidFill>
              <a:ln>
                <a:noFill/>
              </a:ln>
            </c:spPr>
          </c:dPt>
          <c:dPt>
            <c:idx val="3"/>
            <c:spPr>
              <a:solidFill>
                <a:srgbClr val="E4B795"/>
              </a:solidFill>
              <a:ln>
                <a:noFill/>
              </a:ln>
            </c:spPr>
          </c:dPt>
          <c:dPt>
            <c:idx val="4"/>
            <c:spPr>
              <a:solidFill>
                <a:srgbClr val="C9773F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L</c:v>
                </c:pt>
                <c:pt idx="1">
                  <c:v>M</c:v>
                </c:pt>
                <c:pt idx="2">
                  <c:v>S</c:v>
                </c:pt>
                <c:pt idx="3">
                  <c:v>XL</c:v>
                </c:pt>
                <c:pt idx="4">
                  <c:v>XXL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0.4589033294877284</c:v>
                </c:pt>
                <c:pt idx="1">
                  <c:v>0.30492044451859457</c:v>
                </c:pt>
                <c:pt idx="2">
                  <c:v>0.21773468455880685</c:v>
                </c:pt>
                <c:pt idx="3">
                  <c:v>0.017210768517180904</c:v>
                </c:pt>
                <c:pt idx="4">
                  <c:v>0.0012307729176892794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9D8E8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400">
          <a:solidFill>
            <a:srgbClr val="343434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Добрий день. Мене звати Рут, і сьогодні я покажу аналіз продажів піцерії за 2015 рік. Моя клієнтка — Лаура Мартінес, нова власниця закладу в Нью-Джерсі. Мета проста: дати їй цифри для трьох рішень на січень.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Лаура отримала від попереднього власника вивантаження з каси за весь рік. Самостійно розібратися в цих таблицях вона не може, а в січні їй треба вирішити три речі. Перше — як скласти графік змін, щоб не переплачувати персоналу в тихі години й не захлинатися в пік. Друге — які піци прибрати з меню, бо позицій забагато і частина інгредієнтів псується. Третє — коли і яку акцію запустити.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Щоб відповісти, я розбила задачу на вісім питань. Третє питання дає відповідь про графік змін, шосте — про меню, восьме — про акцію. Решта дають контекст: загальні показники, місяці, рейтинг піц, категорії й розміри, великі замовлення.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Дані — це відкритий датасет Pizza Place Sales з Kaggle, чотири таблиці. Orders — 21 350 замовлень з датою й часом. Order_details — 48 620 позицій, тобто рядків чека. Pizzas — 96 варіантів піци з розміром і ціною. І pizza_types — 32 типи піци з назвою, категорією та інгредієнтами.</a:t>
            </a:r>
          </a:p>
          <a:p/>
          <a:p>
            <a:r>
              <a:t>Зв'язки на схемі: одне замовлення має багато позицій, кожна позиція посилається на одну піцу конкретного розміру, а кожна піца — на свій тип.</a:t>
            </a:r>
          </a:p>
          <a:p/>
          <a:p>
            <a:r>
              <a:t>Перед аналізом я перевірила якість даних. Пропусків немає, «сиріт» теж немає: кожна позиція знаходить своє замовлення й піцу. Піцерія працювала 358 днів; немає продажів 24–25 вересня, у чотири понеділки жовтня і на Різдво. Це важливо для висновків по місяцях. І ще одна технічна деталь: після імпорту всі колонки мали тип TEXT, тому ціни й кількість я приводила через 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Tableau Public не підключається до SQLite напряму, тому я зробила одну вибірку й вивантажила її в CSV. Вона оформлена як VIEW і з'єднує всі чотири таблиці. JOIN іде від order_details до довідників, усі зв'язки «багато до одного», тому рядки не дублюються.</a:t>
            </a:r>
          </a:p>
          <a:p/>
          <a:p>
            <a:r>
              <a:t>Перевірка: у вибірці 48 620 рядків — рівно стільки, скільки в order_details. Тут же я додала обчислювані поля: місяць, назву дня тижня, годину і виручку позиції як ціна на кількість.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 рік піцерія заробила $817 860. Це 21 350 замовлень і майже 50 тисяч піц. Середній чек — $38,31, у середньому 2,3 піци на замовлення.</a:t>
            </a:r>
          </a:p>
          <a:p/>
          <a:p>
            <a:r>
              <a:t>Одна пастка: середній чек рахується на рівні замовлення — виручка, поділена на кількість унікальних замовлень. Якщо взяти просто AVG по рядках, вийде $16,82 — це ціна однієї позиції, а не чек.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Сезонності майже немає. Найсильніший місяць — липень, $72,6 тисячі, найслабший — жовтень, $64,0 тисячі. Різниця 13 відсотків, помісячні зміни від мінус 8 до плюс 10 відсотків, стійкого тренду немає.</a:t>
            </a:r>
          </a:p>
          <a:p/>
          <a:p>
            <a:r>
              <a:t>Але жовтень слабкий не через попит. У ньому чотири закриті понеділки. Якщо порахувати виручку на один робочий день, жовтень навіть трохи вищий за середнє по року. Тому для графіка змін важливіші дні тижня й години, а не місяці.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 головний слайд для графіка змін. Теплова карта показує, скільки замовлень у середньому надходить за одну годину в кожен день тижня.</a:t>
            </a:r>
          </a:p>
          <a:p/>
          <a:p>
            <a:r>
              <a:t>Видно два піки. Перший — будній обід, з 12 до 14: близько восьми замовлень на годину, це приблизно 22 піци. Другий — вечеря з 17 до 19, щодня. У п'ятницю й суботу вечір тягнеться до 21:00.</a:t>
            </a:r>
          </a:p>
          <a:p/>
          <a:p>
            <a:r>
              <a:t>Тихі зони теж чіткі. Між 14 і 17 годиною — близько чотирьох замовлень на годину, удвічі менше за обід. В обід у вихідні теж удвічі тихіше, ніж у будні. А з неділі по четвер після 21:00 — менше трьох замовлень на годину.</a:t>
            </a:r>
          </a:p>
          <a:p/>
          <a:p>
            <a:r>
              <a:t>Праворуч — середнє замовлень за один день. Найзавантаженіша п'ятниця, 70,8, найтихіша неділя, 50,5. Зверніть увагу: я ділю на кількість днів кожного типу, бо понеділків було лише 48, і проста сума їх занизила 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 виручкою лідирують курячі піци: Thai Chicken, Barbecue Chicken, California Chicken. За кількістю — Classic Deluxe, Barbecue Chicken, Hawaiian.</a:t>
            </a:r>
          </a:p>
          <a:p/>
          <a:p>
            <a:r>
              <a:t>Списки збігаються на три позиції з п'яти. Різниця — в ціні: Hawaiian і Pepperoni продаються штуками, але дешеві, тому у виручці вони лише восьмі та одинадцяті.</a:t>
            </a:r>
          </a:p>
          <a:p/>
          <a:p>
            <a:r>
              <a:t>Унизу картина стабільніша: Brie Carre, Mediterranean і Spinach Supreme — в останній п'ятірці за обома показниками. Це перші кандидати на вилучення.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Чотири категорії ділять виручку майже порівну — від 24 до 27 відсотків кожна, тож прибирати цілу категорію не варто.</a:t>
            </a:r>
          </a:p>
          <a:p/>
          <a:p>
            <a:r>
              <a:t>З розмірами інакше. L дає 46 відсотків виручки. А XL і XXL є лише в однієї піци, The Greek, і XXL за рік купили 28 разів. Цей розмір можна прибрати без втрат.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 рішення щодо меню. Я відібрала піци з часткою виручки менше двох відсотків і продажами менше тисячі штук. Таких сім. Далі я перевірила, які з них тягнуть за собою інгредієнти, яких немає в жодній іншій піці. Саме ці інгредієнти найчастіше псуються.</a:t>
            </a:r>
          </a:p>
          <a:p/>
          <a:p>
            <a:r>
              <a:t>Рекомендую прибрати чотири: Brie Carre, Mediterranean, Spinach Supreme і Calabrese. Разом це 7,1 відсотка виручки, або $58 тисяч на рік. Зате з закупівлі зникають дев'ять унікальних інгредієнтів: груші, брі, карамелізована цибуля, чебрець, прошуто, ‘ндуя, панчета та інші.</a:t>
            </a:r>
          </a:p>
          <a:p/>
          <a:p>
            <a:r>
              <a:t>Сім відсотків — це верхня межа втрат. Частина гостей просто вибере іншу піцу. Green Garden я залишаю: вона продається частіше і не має унікальних інгредієнтів.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Замовлення з чотирма й більше піцами — це лише кожне п'яте замовлення, але вони дають 39 відсотків виручки. Середній чек у них $83 проти $28 у звичайних.</a:t>
            </a:r>
          </a:p>
          <a:p/>
          <a:p>
            <a:r>
              <a:t>І важлива деталь: чверть великих замовлень припадає на обід з 12 до 14 — схоже на офісні обіди. Тому окрема пропозиція для компаній має сенс. Наприклад, передзамовлення від п'яти піц до 10:30 зі знижкою. Це ще й допоможе кухні підготуватися до обіднього піку.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акції я порівняла три слабкі вікна з теплової карти.</a:t>
            </a:r>
          </a:p>
          <a:p/>
          <a:p>
            <a:r>
              <a:t>Найкраще — будні з 14 до 17. Зараз це вікно дає $127,7 тисячі на рік, і зростання на 10 відсотків принесе $12,8 тисячі. До того ж персонал у цей час уже на зміні, а кухня завантажена наполовину.</a:t>
            </a:r>
          </a:p>
          <a:p/>
          <a:p>
            <a:r>
              <a:t>Пропоную акцію «Перерва о 14-й»: друга піца розміру M за мінус 30 відсотків. Основну виручку в цьому вікні дає розмір L, тож знижка на M не з'їсть головні продажі.</a:t>
            </a:r>
          </a:p>
          <a:p/>
          <a:p>
            <a:r>
              <a:t>Другим етапом — неділя, найслабший день: сімейний сет. Плюс 10 відсотків дадуть ще майже $10 тисяч. А пізні вечори з неділі по четвер надто слабкі навіть для акції — там краще скоротити зміну.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 покажу дашборд, з яким Лаура зможе працювати сама.</a:t>
            </a:r>
          </a:p>
          <a:p/>
          <a:p>
            <a:r>
              <a:t>(Відкрити Tableau Public.)</a:t>
            </a:r>
          </a:p>
          <a:p/>
          <a:p>
            <a:r>
              <a:t>Угорі — ключові показники. Нижче — тренд по місяцях і теплова карта. Далі — рейтинг піц і структура за категоріями й розмірами.</a:t>
            </a:r>
          </a:p>
          <a:p/>
          <a:p>
            <a:r>
              <a:t>(Вибрати фільтр, наприклад, категорію Chicken.) Фільтри за місяцем, категорією та розміром діють на весь дашборд.</a:t>
            </a:r>
          </a:p>
          <a:p/>
          <a:p>
            <a:r>
              <a:t>(Змінити Top N.) Параметром Top N можна подивитися топ-3 або топ-10.</a:t>
            </a:r>
          </a:p>
          <a:p/>
          <a:p>
            <a:r>
              <a:t>(Клікнути клітинку теплової карти, напр. Пн 15:00.) А клік по клітинці показує, що саме купують у цю годину.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Підсумую три рішення.</a:t>
            </a:r>
          </a:p>
          <a:p/>
          <a:p>
            <a:r>
              <a:t>Графік змін. У будні з 11:30 до 14:00 — плюс одна людина на кухні. Щодня з 17 до 19 — повний склад, у п'ятницю й суботу до 21:00. Обід у вихідні тихіший, підсилення не потрібне. А з неділі по четвер після 21:00 — мінімальний склад. Якщо закриватися о 22:00, ризик — максимум $11 тисяч, це 1,4 відсотка виручки.</a:t>
            </a:r>
          </a:p>
          <a:p/>
          <a:p>
            <a:r>
              <a:t>Меню. Прибрати чотири піци і розмір XXL: це 7,1 відсотка виручки і дев'ять інгредієнтів менше в закупівлі.</a:t>
            </a:r>
          </a:p>
          <a:p/>
          <a:p>
            <a:r>
              <a:t>Акція. «Перерва о 14-й» у будні — потенціал плюс $12,8 тисячі на рік. Потім недільний сет і пропозиція для офісів.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Важливо розуміти межі цього аналізу. Дані показують виручку, але не прибуток: немає собівартості й списань. Дані лише за один рік, тож сезонність не підтвердити. Немає даних про персонал і канал продажу — зал чи доставка. А оцінка «плюс 10 відсотків» не враховує вартість знижки.</a:t>
            </a:r>
          </a:p>
          <a:p/>
          <a:p>
            <a:r>
              <a:t>Тому наступні кроки такі: отримати food cost і порахувати маржу кожної піци, запустити акцію як тест на чотири тижні й порівняти з тими самими годинами минулого року, і щомісяця оновлювати дашборд новими даними з каси.</a:t>
            </a:r>
          </a:p>
          <a:p/>
          <a:p>
            <a:r>
              <a:t>Дякую! Готова відповісти на запитання.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Дякую! Готова відповісти на запитання. Відкритий SQLite Online з таблицями — можу запустити будь-який запит.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5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public.tableau.com/app/profile/rut.albrekht/viz/pizzasalesanalysis_17907074648540/Dashboard1" TargetMode="Externa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public.tableau.com/app/profile/rut.albrekht/viz/pizzasalesanalysis_17907074648540/Dashboard1" TargetMode="External"/><Relationship Id="rId4" Type="http://schemas.openxmlformats.org/officeDocument/2006/relationships/notesSlide" Target="../notesSlides/notesSlide1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7862">
            <a:off x="6110388" y="5304279"/>
            <a:ext cx="15048401" cy="6376760"/>
          </a:xfrm>
          <a:custGeom>
            <a:avLst/>
            <a:gdLst/>
            <a:ahLst/>
            <a:cxnLst/>
            <a:rect r="r" b="b" t="t" l="l"/>
            <a:pathLst>
              <a:path h="6376760" w="15048401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332478" y="7009521"/>
            <a:ext cx="9637365" cy="212578"/>
            <a:chOff x="0" y="0"/>
            <a:chExt cx="2538236" cy="559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8236" cy="55988"/>
            </a:xfrm>
            <a:custGeom>
              <a:avLst/>
              <a:gdLst/>
              <a:ahLst/>
              <a:cxnLst/>
              <a:rect r="r" b="b" t="t" l="l"/>
              <a:pathLst>
                <a:path h="55988" w="2538236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538236" cy="113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-641393" y="-1165054"/>
            <a:ext cx="6732105" cy="4030848"/>
          </a:xfrm>
          <a:custGeom>
            <a:avLst/>
            <a:gdLst/>
            <a:ahLst/>
            <a:cxnLst/>
            <a:rect r="r" b="b" t="t" l="l"/>
            <a:pathLst>
              <a:path h="4030848" w="6732105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028700" y="4043903"/>
            <a:ext cx="10797967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b="1" sz="12000" spc="6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ПІЦЕРІЯ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838581"/>
            <a:ext cx="10797967" cy="117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6400" spc="697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ПРОДАЖІ 2015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032284"/>
            <a:ext cx="2424493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2500" spc="124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Підготувала: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85781" y="8032284"/>
            <a:ext cx="4572000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2500" spc="124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Рут Альбрехт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04575" y="783695"/>
            <a:ext cx="300194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67703" y="783695"/>
            <a:ext cx="219159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46639" y="783695"/>
            <a:ext cx="219159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grpSp>
        <p:nvGrpSpPr>
          <p:cNvPr name="Group 14" id="14"/>
          <p:cNvGrpSpPr/>
          <p:nvPr/>
        </p:nvGrpSpPr>
        <p:grpSpPr>
          <a:xfrm rot="5400000">
            <a:off x="12742276" y="-5341984"/>
            <a:ext cx="643045" cy="12669823"/>
            <a:chOff x="0" y="0"/>
            <a:chExt cx="169362" cy="33369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9362" cy="3336908"/>
            </a:xfrm>
            <a:custGeom>
              <a:avLst/>
              <a:gdLst/>
              <a:ahLst/>
              <a:cxnLst/>
              <a:rect r="r" b="b" t="t" l="l"/>
              <a:pathLst>
                <a:path h="3336908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3252227"/>
                  </a:lnTo>
                  <a:cubicBezTo>
                    <a:pt x="169362" y="3274686"/>
                    <a:pt x="160440" y="3296225"/>
                    <a:pt x="144559" y="3312106"/>
                  </a:cubicBezTo>
                  <a:cubicBezTo>
                    <a:pt x="128678" y="3327986"/>
                    <a:pt x="107140" y="3336908"/>
                    <a:pt x="84681" y="3336908"/>
                  </a:cubicBezTo>
                  <a:lnTo>
                    <a:pt x="84681" y="3336908"/>
                  </a:lnTo>
                  <a:cubicBezTo>
                    <a:pt x="37913" y="3336908"/>
                    <a:pt x="0" y="3298995"/>
                    <a:pt x="0" y="325222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69362" cy="3394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024128" y="87325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uk-UA" b="0" sz="20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Графік змін, меню й акція: три рішення на січень для власниці піцерії в Нью-Джерсі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14668" y="-3157079"/>
            <a:ext cx="15827806" cy="6707033"/>
          </a:xfrm>
          <a:custGeom>
            <a:avLst/>
            <a:gdLst/>
            <a:ahLst/>
            <a:cxnLst/>
            <a:rect r="r" b="b" t="t" l="l"/>
            <a:pathLst>
              <a:path h="6707033" w="15827806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false" rot="-2120312">
            <a:off x="-3187662" y="9611699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-408865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51945" y="3691521"/>
            <a:ext cx="6895551" cy="1521052"/>
            <a:chOff x="0" y="0"/>
            <a:chExt cx="1816112" cy="400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6112" cy="400606"/>
            </a:xfrm>
            <a:custGeom>
              <a:avLst/>
              <a:gdLst/>
              <a:ahLst/>
              <a:cxnLst/>
              <a:rect r="r" b="b" t="t" l="l"/>
              <a:pathLst>
                <a:path h="400606" w="1816112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51945" y="5489893"/>
            <a:ext cx="6895551" cy="1521052"/>
            <a:chOff x="0" y="0"/>
            <a:chExt cx="1816112" cy="400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16112" cy="400606"/>
            </a:xfrm>
            <a:custGeom>
              <a:avLst/>
              <a:gdLst/>
              <a:ahLst/>
              <a:cxnLst/>
              <a:rect r="r" b="b" t="t" l="l"/>
              <a:pathLst>
                <a:path h="400606" w="1816112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69338" y="2057400"/>
            <a:ext cx="822960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sz="93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СИТУАЦІЯ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29423" y="-580405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9338" y="3429000"/>
            <a:ext cx="82296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uk-UA" sz="34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Три рішення, які Лаура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uk-UA" sz="34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має ухвалити в січні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51945" y="3856417"/>
            <a:ext cx="1354994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51945" y="5654789"/>
            <a:ext cx="1354994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69338" y="4983480"/>
            <a:ext cx="7863840" cy="310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lang="uk-UA" sz="2100" spc="95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«Позицій забагато, частина інгредієнтів псується… Найважливіше для мене — конкретні рекомендації з цифрами».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lang="uk-UA" sz="1800" spc="95" b="0">
                <a:solidFill>
                  <a:srgbClr val="34343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Лаура Мартінес, нова власниця піцерії в Нью-Джерсі. Від попереднього власника вона отримала вивантаження з каси за весь 2015 рік.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27406" y="3803904"/>
            <a:ext cx="5120640" cy="1298448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5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ГРАФІК ЗМІН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600" spc="85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Не тримати зайвих людей у тихі години й не захлинатися в пік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27406" y="5596128"/>
            <a:ext cx="5120640" cy="1298448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5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МЕНЮ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600" spc="85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Які піци прибрати, щоб менше інгредієнтів псувалося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93151" y="783695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77374" y="783695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17681" y="783695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grpSp>
        <p:nvGrpSpPr>
          <p:cNvPr name="Group 24" id="24"/>
          <p:cNvGrpSpPr/>
          <p:nvPr/>
        </p:nvGrpSpPr>
        <p:grpSpPr>
          <a:xfrm rot="5400000">
            <a:off x="6251381" y="-3710637"/>
            <a:ext cx="643045" cy="9407130"/>
            <a:chOff x="0" y="0"/>
            <a:chExt cx="169362" cy="24775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9362" cy="2477598"/>
            </a:xfrm>
            <a:custGeom>
              <a:avLst/>
              <a:gdLst/>
              <a:ahLst/>
              <a:cxnLst/>
              <a:rect r="r" b="b" t="t" l="l"/>
              <a:pathLst>
                <a:path h="2477598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69362" cy="253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351945" y="7288265"/>
            <a:ext cx="6895551" cy="1521052"/>
            <a:chOff x="0" y="0"/>
            <a:chExt cx="1816112" cy="4006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16112" cy="400606"/>
            </a:xfrm>
            <a:custGeom>
              <a:avLst/>
              <a:gdLst/>
              <a:ahLst/>
              <a:cxnLst/>
              <a:rect r="r" b="b" t="t" l="l"/>
              <a:pathLst>
                <a:path h="400606" w="1816112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351945" y="7453161"/>
            <a:ext cx="1354994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27406" y="7397496"/>
            <a:ext cx="5120640" cy="1298448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5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АКЦІЯ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600" spc="85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Коли і яку запустити, щоб підтягнути слабкі дні та години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64248" y="9337770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48471" y="9337770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88778" y="9337770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grpSp>
        <p:nvGrpSpPr>
          <p:cNvPr name="Group 5" id="5"/>
          <p:cNvGrpSpPr/>
          <p:nvPr/>
        </p:nvGrpSpPr>
        <p:grpSpPr>
          <a:xfrm rot="5400000">
            <a:off x="8822478" y="4843437"/>
            <a:ext cx="643045" cy="9407130"/>
            <a:chOff x="0" y="0"/>
            <a:chExt cx="169362" cy="2477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9362" cy="2477598"/>
            </a:xfrm>
            <a:custGeom>
              <a:avLst/>
              <a:gdLst/>
              <a:ahLst/>
              <a:cxnLst/>
              <a:rect r="r" b="b" t="t" l="l"/>
              <a:pathLst>
                <a:path h="2477598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69362" cy="253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225008">
            <a:off x="9950507" y="7177426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-8410460">
            <a:off x="1935723" y="-5126712"/>
            <a:ext cx="11976399" cy="7170869"/>
          </a:xfrm>
          <a:custGeom>
            <a:avLst/>
            <a:gdLst/>
            <a:ahLst/>
            <a:cxnLst/>
            <a:rect r="r" b="b" t="t" l="l"/>
            <a:pathLst>
              <a:path h="7170869" w="1197639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2664408" y="-882202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914400"/>
            <a:ext cx="5473709" cy="1783080"/>
            <a:chOff x="0" y="0"/>
            <a:chExt cx="1441635" cy="640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2852928"/>
            <a:ext cx="5473709" cy="1783080"/>
            <a:chOff x="0" y="0"/>
            <a:chExt cx="1441635" cy="640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4791456"/>
            <a:ext cx="5473709" cy="1783080"/>
            <a:chOff x="0" y="0"/>
            <a:chExt cx="1441635" cy="640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7" id="44"/>
          <p:cNvGrpSpPr/>
          <p:nvPr/>
        </p:nvGrpSpPr>
        <p:grpSpPr>
          <a:xfrm rot="0">
            <a:off x="1028700" y="6729984"/>
            <a:ext cx="5473709" cy="1783080"/>
            <a:chOff x="0" y="0"/>
            <a:chExt cx="1441635" cy="640486"/>
          </a:xfrm>
        </p:grpSpPr>
        <p:sp>
          <p:nvSpPr>
            <p:cNvPr name="Freeform 18" id="45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9" id="46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85591" y="914400"/>
            <a:ext cx="5473709" cy="1783080"/>
            <a:chOff x="0" y="0"/>
            <a:chExt cx="1441635" cy="640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85591" y="2852928"/>
            <a:ext cx="5473709" cy="1783080"/>
            <a:chOff x="0" y="0"/>
            <a:chExt cx="1441635" cy="6404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85591" y="4791456"/>
            <a:ext cx="5473709" cy="1783080"/>
            <a:chOff x="0" y="0"/>
            <a:chExt cx="1441635" cy="640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6" id="47"/>
          <p:cNvGrpSpPr/>
          <p:nvPr/>
        </p:nvGrpSpPr>
        <p:grpSpPr>
          <a:xfrm rot="0">
            <a:off x="11785591" y="6729984"/>
            <a:ext cx="5473709" cy="1783080"/>
            <a:chOff x="0" y="0"/>
            <a:chExt cx="1441635" cy="640486"/>
          </a:xfrm>
        </p:grpSpPr>
        <p:sp>
          <p:nvSpPr>
            <p:cNvPr name="Freeform 27" id="48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28" id="49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8700" y="1312164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85591" y="1312164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3250692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85591" y="3250692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591555" y="3945293"/>
            <a:ext cx="5009307" cy="1852811"/>
            <a:chOff x="0" y="0"/>
            <a:chExt cx="6679077" cy="2470414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47625"/>
              <a:ext cx="6679077" cy="191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uk-UA" b="1" sz="5400">
                  <a:solidFill>
                    <a:srgbClr val="3434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 ПИТАНЬ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1905208"/>
              <a:ext cx="6679077" cy="565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uk-UA" sz="2400" spc="58" b="0">
                  <a:solidFill>
                    <a:srgbClr val="3434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ДЛЯ ТРЬОХ РІШЕНЬ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526047" y="1078992"/>
            <a:ext cx="3703320" cy="1453895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Загальні показники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виручка, замовлення, піци, середній чек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82938" y="1078992"/>
            <a:ext cx="3703320" cy="1453895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Категорії та розміри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частка виручки кожної групи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26047" y="3017520"/>
            <a:ext cx="3703320" cy="1453895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Динаміка по місяцях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найсильніший і найслабший місяць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282938" y="3017520"/>
            <a:ext cx="3703320" cy="1453895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Кандидати на вилучення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3–5 піц і скільки виручки зачепить → меню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5189220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name="TextBox 40" id="50"/>
          <p:cNvSpPr txBox="true"/>
          <p:nvPr/>
        </p:nvSpPr>
        <p:spPr>
          <a:xfrm rot="0">
            <a:off x="1028700" y="7127748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785591" y="5189220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</a:p>
        </p:txBody>
      </p:sp>
      <p:sp>
        <p:nvSpPr>
          <p:cNvPr name="TextBox 41" id="51"/>
          <p:cNvSpPr txBox="true"/>
          <p:nvPr/>
        </p:nvSpPr>
        <p:spPr>
          <a:xfrm rot="0">
            <a:off x="11785591" y="7127748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526047" y="4956048"/>
            <a:ext cx="3703320" cy="1453895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Навантаження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дні тижня × години → графік змін</a:t>
            </a:r>
          </a:p>
        </p:txBody>
      </p:sp>
      <p:sp>
        <p:nvSpPr>
          <p:cNvPr name="TextBox 42" id="52"/>
          <p:cNvSpPr txBox="true"/>
          <p:nvPr/>
        </p:nvSpPr>
        <p:spPr>
          <a:xfrm rot="0">
            <a:off x="2526047" y="6894576"/>
            <a:ext cx="3703320" cy="1453895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Бестселери та аутсайдери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топ-5 і останні 5 піц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282938" y="4956048"/>
            <a:ext cx="3703320" cy="1453895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Великі замовлення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4+ піци: частка замовлень і виручки</a:t>
            </a:r>
          </a:p>
        </p:txBody>
      </p:sp>
      <p:sp>
        <p:nvSpPr>
          <p:cNvPr name="TextBox 43" id="53"/>
          <p:cNvSpPr txBox="true"/>
          <p:nvPr/>
        </p:nvSpPr>
        <p:spPr>
          <a:xfrm rot="0">
            <a:off x="13282938" y="6894576"/>
            <a:ext cx="3703320" cy="1453895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Вікно для акції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дні, години й потенціал +10 % → акція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58567">
            <a:off x="10899557" y="-2048730"/>
            <a:ext cx="10441422" cy="4424552"/>
          </a:xfrm>
          <a:custGeom>
            <a:avLst/>
            <a:gdLst/>
            <a:ahLst/>
            <a:cxnLst/>
            <a:rect r="r" b="b" t="t" l="l"/>
            <a:pathLst>
              <a:path h="4424552" w="10441422">
                <a:moveTo>
                  <a:pt x="10441422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2" y="4424552"/>
                </a:lnTo>
                <a:lnTo>
                  <a:pt x="1044142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9125778">
            <a:off x="9642048" y="8265085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6" y="0"/>
                </a:lnTo>
                <a:lnTo>
                  <a:pt x="7735476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-168477" y="-348153"/>
            <a:ext cx="8500415" cy="5587359"/>
            <a:chOff x="0" y="0"/>
            <a:chExt cx="2238793" cy="14715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8793" cy="1471568"/>
            </a:xfrm>
            <a:custGeom>
              <a:avLst/>
              <a:gdLst/>
              <a:ahLst/>
              <a:cxnLst/>
              <a:rect r="r" b="b" t="t" l="l"/>
              <a:pathLst>
                <a:path h="1471568" w="2238793">
                  <a:moveTo>
                    <a:pt x="0" y="0"/>
                  </a:moveTo>
                  <a:lnTo>
                    <a:pt x="2238793" y="0"/>
                  </a:lnTo>
                  <a:lnTo>
                    <a:pt x="2238793" y="1471568"/>
                  </a:lnTo>
                  <a:lnTo>
                    <a:pt x="0" y="147156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238793" cy="1528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-1416136" y="2083271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989320"/>
            <a:ext cx="9445915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sz="93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ДАНІ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315200"/>
            <a:ext cx="8229600" cy="118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uk-UA" sz="38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4 таблиці, 0 пропусків,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uk-UA" sz="38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0 «сиріт»</a:t>
            </a:r>
          </a:p>
        </p:txBody>
      </p:sp>
      <p:grpSp>
        <p:nvGrpSpPr>
          <p:cNvPr name="Group 12" id="12"/>
          <p:cNvGrpSpPr/>
          <p:nvPr/>
        </p:nvGrpSpPr>
        <p:grpSpPr>
          <a:xfrm rot="5400000">
            <a:off x="12996188" y="-3041057"/>
            <a:ext cx="643045" cy="8066054"/>
            <a:chOff x="0" y="0"/>
            <a:chExt cx="169362" cy="21243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9362" cy="2124393"/>
            </a:xfrm>
            <a:custGeom>
              <a:avLst/>
              <a:gdLst/>
              <a:ahLst/>
              <a:cxnLst/>
              <a:rect r="r" b="b" t="t" l="l"/>
              <a:pathLst>
                <a:path h="2124393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039712"/>
                  </a:lnTo>
                  <a:cubicBezTo>
                    <a:pt x="169362" y="2086480"/>
                    <a:pt x="131449" y="2124393"/>
                    <a:pt x="84681" y="2124393"/>
                  </a:cubicBezTo>
                  <a:lnTo>
                    <a:pt x="84681" y="2124393"/>
                  </a:lnTo>
                  <a:cubicBezTo>
                    <a:pt x="62222" y="2124393"/>
                    <a:pt x="40683" y="2115471"/>
                    <a:pt x="24802" y="2099590"/>
                  </a:cubicBezTo>
                  <a:cubicBezTo>
                    <a:pt x="8922" y="2083710"/>
                    <a:pt x="0" y="2062171"/>
                    <a:pt x="0" y="2039712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9362" cy="2181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737958" y="782737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22181" y="782737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62488" y="782737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8823960"/>
            <a:ext cx="8138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0" sz="1700">
                <a:solidFill>
                  <a:srgbClr val="34343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Kaggle · Pizza Place Sales · 358 днів продажів у 2015 році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1600200"/>
            <a:ext cx="3566160" cy="2212848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2700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555480" y="1600200"/>
            <a:ext cx="3566160" cy="566928"/>
          </a:xfrm>
          <a:prstGeom prst="roundRect">
            <a:avLst>
              <a:gd name="adj" fmla="val 29032"/>
            </a:avLst>
          </a:prstGeom>
          <a:gradFill rotWithShape="1">
            <a:gsLst>
              <a:gs pos="0">
                <a:srgbClr val="E4B795"/>
              </a:gs>
              <a:gs pos="50000">
                <a:srgbClr val="699ACD"/>
              </a:gs>
              <a:gs pos="100000">
                <a:srgbClr val="2F679F"/>
              </a:gs>
            </a:gsLst>
            <a:path path="circle">
              <a:fillToRect l="0" t="0" r="100000" b="100000"/>
            </a:path>
            <a:tileRect l="-100000" t="-100000" r="0" b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56648" y="1600200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7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orders</a:t>
            </a:r>
            <a:r>
              <a:rPr lang="uk-UA" b="0" sz="140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 xml:space="preserve">   21 350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8" y="22585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PK</a:t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order_id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62432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C9773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    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48" y="29900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C9773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   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61720" y="1600200"/>
            <a:ext cx="3566160" cy="2212848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2700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3761720" y="1600200"/>
            <a:ext cx="3566160" cy="566928"/>
          </a:xfrm>
          <a:prstGeom prst="roundRect">
            <a:avLst>
              <a:gd name="adj" fmla="val 29032"/>
            </a:avLst>
          </a:prstGeom>
          <a:gradFill rotWithShape="1">
            <a:gsLst>
              <a:gs pos="0">
                <a:srgbClr val="E4B795"/>
              </a:gs>
              <a:gs pos="50000">
                <a:srgbClr val="699ACD"/>
              </a:gs>
              <a:gs pos="100000">
                <a:srgbClr val="2F679F"/>
              </a:gs>
            </a:gsLst>
            <a:path path="circle">
              <a:fillToRect l="0" t="0" r="100000" b="100000"/>
            </a:path>
            <a:tileRect l="-100000" t="-100000" r="0" b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962888" y="1600200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7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order_details</a:t>
            </a:r>
            <a:r>
              <a:rPr lang="uk-UA" b="0" sz="140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 xml:space="preserve">   48 620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62888" y="22585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PK</a:t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order_details_id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62888" y="262432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C9773F"/>
                </a:solidFill>
                <a:latin typeface="Montserrat"/>
                <a:ea typeface="Montserrat"/>
                <a:cs typeface="Montserrat"/>
                <a:sym typeface="Montserrat"/>
              </a:rPr>
              <a:t>FK</a:t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order_id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62888" y="29900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C9773F"/>
                </a:solidFill>
                <a:latin typeface="Montserrat"/>
                <a:ea typeface="Montserrat"/>
                <a:cs typeface="Montserrat"/>
                <a:sym typeface="Montserrat"/>
              </a:rPr>
              <a:t>FK</a:t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pizza_id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62888" y="335584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C9773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    quantity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4892040"/>
            <a:ext cx="3566160" cy="2212848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2700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9555480" y="4892040"/>
            <a:ext cx="3566160" cy="566928"/>
          </a:xfrm>
          <a:prstGeom prst="roundRect">
            <a:avLst>
              <a:gd name="adj" fmla="val 29032"/>
            </a:avLst>
          </a:prstGeom>
          <a:gradFill rotWithShape="1">
            <a:gsLst>
              <a:gs pos="0">
                <a:srgbClr val="E4B795"/>
              </a:gs>
              <a:gs pos="50000">
                <a:srgbClr val="699ACD"/>
              </a:gs>
              <a:gs pos="100000">
                <a:srgbClr val="2F679F"/>
              </a:gs>
            </a:gsLst>
            <a:path path="circle">
              <a:fillToRect l="0" t="0" r="100000" b="100000"/>
            </a:path>
            <a:tileRect l="-100000" t="-100000" r="0" b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756648" y="4892040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7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pizza_types</a:t>
            </a:r>
            <a:r>
              <a:rPr lang="uk-UA" b="0" sz="140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 xml:space="preserve">   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5550407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PK</a:t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pizza_type_id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59161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C9773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    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6281927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C9773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    category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66476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C9773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    ingredients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761720" y="4892040"/>
            <a:ext cx="3566160" cy="2212848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2700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13761720" y="4892040"/>
            <a:ext cx="3566160" cy="566928"/>
          </a:xfrm>
          <a:prstGeom prst="roundRect">
            <a:avLst>
              <a:gd name="adj" fmla="val 29032"/>
            </a:avLst>
          </a:prstGeom>
          <a:gradFill rotWithShape="1">
            <a:gsLst>
              <a:gs pos="0">
                <a:srgbClr val="E4B795"/>
              </a:gs>
              <a:gs pos="50000">
                <a:srgbClr val="699ACD"/>
              </a:gs>
              <a:gs pos="100000">
                <a:srgbClr val="2F679F"/>
              </a:gs>
            </a:gsLst>
            <a:path path="circle">
              <a:fillToRect l="0" t="0" r="100000" b="100000"/>
            </a:path>
            <a:tileRect l="-100000" t="-100000" r="0" b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3962888" y="4892040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7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pizzas</a:t>
            </a:r>
            <a:r>
              <a:rPr lang="uk-UA" b="0" sz="140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 xml:space="preserve">   96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962888" y="5550407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PK</a:t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pizza_id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962888" y="59161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C9773F"/>
                </a:solidFill>
                <a:latin typeface="Montserrat"/>
                <a:ea typeface="Montserrat"/>
                <a:cs typeface="Montserrat"/>
                <a:sym typeface="Montserrat"/>
              </a:rPr>
              <a:t>FK</a:t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pizza_type_id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962888" y="6281927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C9773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    size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62888" y="66476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300">
                <a:solidFill>
                  <a:srgbClr val="C9773F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      price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3121640" y="1920240"/>
            <a:ext cx="640080" cy="0"/>
          </a:xfrm>
          <a:prstGeom prst="line">
            <a:avLst/>
          </a:prstGeom>
          <a:ln w="19050">
            <a:solidFill>
              <a:srgbClr val="164B8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3149072" y="148132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5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514832" y="148132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5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5544800" y="3813048"/>
            <a:ext cx="0" cy="1078992"/>
          </a:xfrm>
          <a:prstGeom prst="line">
            <a:avLst/>
          </a:prstGeom>
          <a:ln w="19050">
            <a:solidFill>
              <a:srgbClr val="164B8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5654528" y="4069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5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654528" y="4480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5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3121640" y="5230368"/>
            <a:ext cx="640080" cy="0"/>
          </a:xfrm>
          <a:prstGeom prst="line">
            <a:avLst/>
          </a:prstGeom>
          <a:ln w="19050">
            <a:solidFill>
              <a:srgbClr val="164B8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3149072" y="479145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5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514832" y="479145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5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55480" y="7360920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uk-UA" b="1" sz="16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1 → N: </a:t>
            </a:r>
            <a:r>
              <a:rPr lang="uk-UA" b="0" sz="16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одне замовлення має багато позицій; тип піци має кілька розмірів.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uk-UA" b="1" sz="16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«Сирота» </a:t>
            </a:r>
            <a:r>
              <a:rPr lang="uk-UA" b="0" sz="16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— рядок із посиланням на неіснуючий запис. LEFT JOIN … IS NULL дає 0.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4366" y="-196806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408865" y="-392510"/>
            <a:ext cx="7501837" cy="11072020"/>
            <a:chOff x="0" y="0"/>
            <a:chExt cx="1975792" cy="2916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793" cy="2916088"/>
            </a:xfrm>
            <a:custGeom>
              <a:avLst/>
              <a:gdLst/>
              <a:ahLst/>
              <a:cxnLst/>
              <a:rect r="r" b="b" t="t" l="l"/>
              <a:pathLst>
                <a:path h="2916088" w="1975793">
                  <a:moveTo>
                    <a:pt x="0" y="0"/>
                  </a:moveTo>
                  <a:lnTo>
                    <a:pt x="1975793" y="0"/>
                  </a:lnTo>
                  <a:lnTo>
                    <a:pt x="197579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975792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31877" y="633234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8159298" y="1005840"/>
            <a:ext cx="914400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sz="88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ВИБІРКА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sz="88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SALES_LINES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988633" y="-146732"/>
            <a:ext cx="6026397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59298" y="3429000"/>
            <a:ext cx="91440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34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1 рядок = 1 позиція чека</a:t>
            </a: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5051534" y="7300883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13" id="13"/>
          <p:cNvSpPr txBox="true"/>
          <p:nvPr/>
        </p:nvSpPr>
        <p:spPr>
          <a:xfrm rot="-5400000">
            <a:off x="5388008" y="2353136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2015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5388008" y="4612828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009823" y="439935"/>
            <a:ext cx="643045" cy="9407130"/>
            <a:chOff x="0" y="0"/>
            <a:chExt cx="169362" cy="24775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9362" cy="2477598"/>
            </a:xfrm>
            <a:custGeom>
              <a:avLst/>
              <a:gdLst/>
              <a:ahLst/>
              <a:cxnLst/>
              <a:rect r="r" b="b" t="t" l="l"/>
              <a:pathLst>
                <a:path h="2477598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69362" cy="253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8156448" y="4434840"/>
            <a:ext cx="9144000" cy="5166360"/>
          </a:xfrm>
          <a:prstGeom prst="roundRect">
            <a:avLst>
              <a:gd name="adj" fmla="val 3539"/>
            </a:avLst>
          </a:prstGeom>
          <a:solidFill>
            <a:srgbClr val="FFFFFF"/>
          </a:solidFill>
          <a:ln w="12700">
            <a:solidFill>
              <a:srgbClr val="C9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58200" y="4709160"/>
            <a:ext cx="868680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sales_lines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o.order_id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o.date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order_date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o.time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order_time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strftime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-UA" b="0" sz="1500">
                <a:solidFill>
                  <a:srgbClr val="C9773F"/>
                </a:solidFill>
                <a:latin typeface="Courier New"/>
                <a:ea typeface="Courier New"/>
                <a:cs typeface="Courier New"/>
                <a:sym typeface="Courier New"/>
              </a:rPr>
              <a:t>'%m'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o.date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month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strftime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-UA" b="0" sz="1500">
                <a:solidFill>
                  <a:srgbClr val="C9773F"/>
                </a:solidFill>
                <a:latin typeface="Courier New"/>
                <a:ea typeface="Courier New"/>
                <a:cs typeface="Courier New"/>
                <a:sym typeface="Courier New"/>
              </a:rPr>
              <a:t>'%w'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o.date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C9773F"/>
                </a:solidFill>
                <a:latin typeface="Courier New"/>
                <a:ea typeface="Courier New"/>
                <a:cs typeface="Courier New"/>
                <a:sym typeface="Courier New"/>
              </a:rPr>
              <a:t>'0'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C9773F"/>
                </a:solidFill>
                <a:latin typeface="Courier New"/>
                <a:ea typeface="Courier New"/>
                <a:cs typeface="Courier New"/>
                <a:sym typeface="Courier New"/>
              </a:rPr>
              <a:t>'Sunday'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weekday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CAST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strftime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-UA" b="0" sz="1500">
                <a:solidFill>
                  <a:srgbClr val="C9773F"/>
                </a:solidFill>
                <a:latin typeface="Courier New"/>
                <a:ea typeface="Courier New"/>
                <a:cs typeface="Courier New"/>
                <a:sym typeface="Courier New"/>
              </a:rPr>
              <a:t>'%H'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o.time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INTEGER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hour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pt.name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pizza_name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pt.category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p.size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CAST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p.price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REAL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      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unit_price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CAST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od.quantity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INTEGER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        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quantity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CAST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p.price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REAL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CAST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od.quantity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INTEGER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revenue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order_details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od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orders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o.order_id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od.order_id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pizzas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p.pizza_id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     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od.pizza_id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pizza_types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pt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1" sz="1500">
                <a:solidFill>
                  <a:srgbClr val="2F679F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pt.pizza_type_id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 xml:space="preserve"> 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p.pizza_type_id</a:t>
            </a:r>
            <a:r>
              <a:rPr lang="uk-UA" b="0" sz="1500">
                <a:solidFill>
                  <a:srgbClr val="343434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720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uk-UA" b="1" sz="4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48 620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uk-UA" b="0" sz="17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рядків в order_details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722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uk-UA" b="1" sz="4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48 620 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uk-UA" b="0" sz="17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рядків у sales_lines: JOIN не дублює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77724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uk-UA" b="1" sz="4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$817 860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uk-UA" b="0" sz="17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Σ revenue: контроль для Tableau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89023" y="-2444319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1786060" y="-392510"/>
            <a:ext cx="6667753" cy="11072020"/>
            <a:chOff x="0" y="0"/>
            <a:chExt cx="1756116" cy="2916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56116" cy="2916088"/>
            </a:xfrm>
            <a:custGeom>
              <a:avLst/>
              <a:gdLst/>
              <a:ahLst/>
              <a:cxnLst/>
              <a:rect r="r" b="b" t="t" l="l"/>
              <a:pathLst>
                <a:path h="2916088" w="1756116">
                  <a:moveTo>
                    <a:pt x="0" y="0"/>
                  </a:moveTo>
                  <a:lnTo>
                    <a:pt x="1756116" y="0"/>
                  </a:lnTo>
                  <a:lnTo>
                    <a:pt x="1756116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756116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951976" y="7212829"/>
            <a:ext cx="6026397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1409" y="4480560"/>
            <a:ext cx="1005840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64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СЕРЕДНІЙ ЧЕК $38,31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0704" y="914400"/>
            <a:ext cx="10058400" cy="210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uk-UA" sz="144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$817 860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1409" y="5577840"/>
            <a:ext cx="100584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3200" spc="76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2,32 піци в кожному замовленні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1409" y="6675120"/>
            <a:ext cx="969264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lang="uk-UA" sz="1900" spc="95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Середній чек = виручка ÷ COUNT(DISTINCT order_id). </a:t>
            </a:r>
            <a:r>
              <a:rPr lang="uk-UA" sz="1900" spc="95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AVG по рядках дав би $16,82: це ціна однієї позиції, а не чек.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lang="uk-UA" sz="1900" spc="95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Кухня рахує навантаження в піцах, а не в чеках: 49 574 піци на 21 350 замовлень.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259300" y="439935"/>
            <a:ext cx="643045" cy="9407130"/>
            <a:chOff x="0" y="0"/>
            <a:chExt cx="857393" cy="12542840"/>
          </a:xfrm>
        </p:grpSpPr>
        <p:sp>
          <p:nvSpPr>
            <p:cNvPr name="TextBox 13" id="13"/>
            <p:cNvSpPr txBox="true"/>
            <p:nvPr/>
          </p:nvSpPr>
          <p:spPr>
            <a:xfrm rot="-5400000">
              <a:off x="-1266608" y="9159042"/>
              <a:ext cx="3323932" cy="446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uk-UA" sz="1800" spc="95" b="0">
                  <a:solidFill>
                    <a:srgbClr val="F2F7FA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Рут Альбрехт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-5400000">
              <a:off x="-817974" y="2562046"/>
              <a:ext cx="2426665" cy="446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</a:pPr>
              <a:r>
                <a:rPr lang="uk-UA" sz="1800" spc="95" b="0">
                  <a:solidFill>
                    <a:srgbClr val="F2F7FA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2015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-5400000">
              <a:off x="-817974" y="5574970"/>
              <a:ext cx="2426665" cy="446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uk-UA" sz="1800" spc="95" b="0">
                  <a:solidFill>
                    <a:srgbClr val="F2F7FA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Pizza Sales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0" y="0"/>
              <a:ext cx="857393" cy="12542840"/>
              <a:chOff x="0" y="0"/>
              <a:chExt cx="169362" cy="247759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69362" cy="2477598"/>
              </a:xfrm>
              <a:custGeom>
                <a:avLst/>
                <a:gdLst/>
                <a:ahLst/>
                <a:cxnLst/>
                <a:rect r="r" b="b" t="t" l="l"/>
                <a:pathLst>
                  <a:path h="2477598" w="169362">
                    <a:moveTo>
                      <a:pt x="84681" y="0"/>
                    </a:moveTo>
                    <a:lnTo>
                      <a:pt x="84681" y="0"/>
                    </a:lnTo>
                    <a:cubicBezTo>
                      <a:pt x="107140" y="0"/>
                      <a:pt x="128678" y="8922"/>
                      <a:pt x="144559" y="24802"/>
                    </a:cubicBezTo>
                    <a:cubicBezTo>
                      <a:pt x="160440" y="40683"/>
                      <a:pt x="169362" y="62222"/>
                      <a:pt x="169362" y="84681"/>
                    </a:cubicBezTo>
                    <a:lnTo>
                      <a:pt x="169362" y="2392917"/>
                    </a:lnTo>
                    <a:cubicBezTo>
                      <a:pt x="169362" y="2439685"/>
                      <a:pt x="131449" y="2477598"/>
                      <a:pt x="84681" y="2477598"/>
                    </a:cubicBezTo>
                    <a:lnTo>
                      <a:pt x="84681" y="2477598"/>
                    </a:lnTo>
                    <a:cubicBezTo>
                      <a:pt x="37913" y="2477598"/>
                      <a:pt x="0" y="2439685"/>
                      <a:pt x="0" y="2392917"/>
                    </a:cubicBezTo>
                    <a:lnTo>
                      <a:pt x="0" y="84681"/>
                    </a:lnTo>
                    <a:cubicBezTo>
                      <a:pt x="0" y="37913"/>
                      <a:pt x="37913" y="0"/>
                      <a:pt x="84681" y="0"/>
                    </a:cubicBezTo>
                    <a:close/>
                  </a:path>
                </a:pathLst>
              </a:custGeom>
              <a:ln w="19050" cap="rnd">
                <a:solidFill>
                  <a:srgbClr val="F2F7FA"/>
                </a:solidFill>
                <a:prstDash val="solid"/>
                <a:round/>
              </a:ln>
            </p:spPr>
            <p:txBody>
              <a:bodyPr/>
              <a:p/>
            </p:txBody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169362" cy="25347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1061409" y="3063240"/>
            <a:ext cx="98755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2000" spc="8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виручка за 2015 рік, у середньому $2 284 за робочий день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0" y="91440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uk-UA" b="1" sz="60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21 350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uk-UA" b="0" sz="20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замовлень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0" y="283464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uk-UA" b="1" sz="60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49 574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uk-UA" b="0" sz="20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піци продано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0" y="475488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uk-UA" b="1" sz="60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59,6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uk-UA" b="0" sz="20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замовлення на день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-467361" y="-2757747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86204" y="6250419"/>
            <a:ext cx="11514218" cy="8506128"/>
          </a:xfrm>
          <a:custGeom>
            <a:avLst/>
            <a:gdLst/>
            <a:ahLst/>
            <a:cxnLst/>
            <a:rect r="r" b="b" t="t" l="l"/>
            <a:pathLst>
              <a:path h="8506128" w="1151421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17259300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021110" y="782737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05333" y="782737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45641" y="782737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11279340" y="-3711595"/>
            <a:ext cx="643045" cy="9407130"/>
            <a:chOff x="0" y="0"/>
            <a:chExt cx="169362" cy="24775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362" cy="2477598"/>
            </a:xfrm>
            <a:custGeom>
              <a:avLst/>
              <a:gdLst/>
              <a:ahLst/>
              <a:cxnLst/>
              <a:rect r="r" b="b" t="t" l="l"/>
              <a:pathLst>
                <a:path h="2477598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9362" cy="253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041524" y="6795739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103120"/>
            <a:ext cx="12765895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62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СЕЗОННОСТІ МАЙЖЕ НЕМАЄ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246120"/>
            <a:ext cx="128016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32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Липень $72,6 тис., жовтень $64,0 тис.: різниця лише 13 %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22960" y="4160520"/>
          <a:ext cx="11247120" cy="5577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24128" y="9692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0" sz="1400">
                <a:solidFill>
                  <a:srgbClr val="34343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Виручка по місяцях, тис. 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0" y="4114800"/>
            <a:ext cx="44805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lang="uk-UA" b="1" sz="17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Від −8 % до +10 % </a:t>
            </a:r>
            <a:r>
              <a:rPr lang="uk-UA" b="0" sz="17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помісячно (LAG), стійкого тренду немає.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lang="uk-UA" b="1" sz="17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Жовтень </a:t>
            </a:r>
            <a:r>
              <a:rPr lang="uk-UA" b="0" sz="17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слабший через 4 закриті понеділки. На робочий день він дає $2 371, більше за середнє ($2 284).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565348">
            <a:off x="-1362223" y="-2212276"/>
            <a:ext cx="10441422" cy="4424552"/>
          </a:xfrm>
          <a:custGeom>
            <a:avLst/>
            <a:gdLst/>
            <a:ahLst/>
            <a:cxnLst/>
            <a:rect r="r" b="b" t="t" l="l"/>
            <a:pathLst>
              <a:path h="4424552" w="10441422">
                <a:moveTo>
                  <a:pt x="10441421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1" y="4424552"/>
                </a:lnTo>
                <a:lnTo>
                  <a:pt x="1044142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8250927">
            <a:off x="5486162" y="7645079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10821802" y="4192649"/>
            <a:ext cx="7891417" cy="6257897"/>
            <a:chOff x="0" y="0"/>
            <a:chExt cx="2078398" cy="16481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8398" cy="1648170"/>
            </a:xfrm>
            <a:custGeom>
              <a:avLst/>
              <a:gdLst/>
              <a:ahLst/>
              <a:cxnLst/>
              <a:rect r="r" b="b" t="t" l="l"/>
              <a:pathLst>
                <a:path h="1648170" w="2078398">
                  <a:moveTo>
                    <a:pt x="0" y="0"/>
                  </a:moveTo>
                  <a:lnTo>
                    <a:pt x="2078398" y="0"/>
                  </a:lnTo>
                  <a:lnTo>
                    <a:pt x="2078398" y="1648170"/>
                  </a:lnTo>
                  <a:lnTo>
                    <a:pt x="0" y="1648170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078398" cy="1705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5400000">
            <a:off x="14969335" y="1122741"/>
            <a:ext cx="643045" cy="7706253"/>
            <a:chOff x="0" y="0"/>
            <a:chExt cx="169362" cy="20296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362" cy="2029631"/>
            </a:xfrm>
            <a:custGeom>
              <a:avLst/>
              <a:gdLst/>
              <a:ahLst/>
              <a:cxnLst/>
              <a:rect r="r" b="b" t="t" l="l"/>
              <a:pathLst>
                <a:path h="2029631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944950"/>
                  </a:lnTo>
                  <a:cubicBezTo>
                    <a:pt x="169362" y="1967409"/>
                    <a:pt x="160440" y="1988947"/>
                    <a:pt x="144559" y="2004828"/>
                  </a:cubicBezTo>
                  <a:cubicBezTo>
                    <a:pt x="128678" y="2020709"/>
                    <a:pt x="107140" y="2029631"/>
                    <a:pt x="84681" y="2029631"/>
                  </a:cubicBezTo>
                  <a:lnTo>
                    <a:pt x="84681" y="2029631"/>
                  </a:lnTo>
                  <a:cubicBezTo>
                    <a:pt x="37913" y="2029631"/>
                    <a:pt x="0" y="1991718"/>
                    <a:pt x="0" y="1944950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69362" cy="2086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028076" y="4766635"/>
            <a:ext cx="2798032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26108" y="4766635"/>
            <a:ext cx="204272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14668" y="6830598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371600"/>
            <a:ext cx="969264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70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ДВА ПІКИ НА ДЕНЬ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514600"/>
            <a:ext cx="96926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34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Будній обід 12–14 і вечеря 17–19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05840" y="3429000"/>
          <a:ext cx="9418320" cy="5394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4008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lang="uk-UA" b="0" sz="13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5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Пн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4,7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8,3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346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6,9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3,8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4,0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5,1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6,6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6,3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4,9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3,6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2,8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1,1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E3ECF5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5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Вт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3,6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8,1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346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7,1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346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3,8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3,7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5,7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5,9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5,8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5,3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4,1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2,5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CAD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1,6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CADCEE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5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Ср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4,4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8,1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346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7,3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346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3,9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4,0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5,0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6,6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6,4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4,6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3,7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2,7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CAD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1,4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CADCEE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5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Чт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4,1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8,3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346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8,4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164B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4,5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4,4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5,6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7,2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346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6,9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5,2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4,2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2,2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CAD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1,2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E3ECF5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5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Пт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3,8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8,3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346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8,3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346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4,4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3,8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5,2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6,9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7,7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346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6,8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6,4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5,4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3,6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5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Сб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1,6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CAD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4,3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5,0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4,3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4,5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5,7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6,2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7,5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346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7,1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346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6,3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5,1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2,8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5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Нд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1,8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CADC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4,0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5,0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4,1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4,3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5,3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6,2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6,2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5F90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5,4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86AD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3,8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2,8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ABC7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1,3</a:t>
                      </a:r>
                    </a:p>
                  </a:txBody>
                  <a:tcPr marL="73152" marR="73152" marT="27432" marB="27432" anchor="ctr">
                    <a:lnL w="31750">
                      <a:solidFill>
                        <a:srgbClr val="F2F7FA"/>
                      </a:solidFill>
                    </a:lnL>
                    <a:lnR w="31750">
                      <a:solidFill>
                        <a:srgbClr val="F2F7FA"/>
                      </a:solidFill>
                    </a:lnR>
                    <a:lnT w="31750">
                      <a:solidFill>
                        <a:srgbClr val="F2F7FA"/>
                      </a:solidFill>
                    </a:lnT>
                    <a:lnB w="31750">
                      <a:solidFill>
                        <a:srgbClr val="F2F7FA"/>
                      </a:solidFill>
                    </a:lnB>
                    <a:solidFill>
                      <a:srgbClr val="E3ECF5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24128" y="8961120"/>
            <a:ext cx="9418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0" sz="1400">
                <a:solidFill>
                  <a:srgbClr val="34343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Середня кількість замовлень за одну годину: сума ÷ кількість днів цього типу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41148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5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ЗАМОВЛЕНЬ ЗА ОДИН ДЕНЬ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11155680" y="731520"/>
          <a:ext cx="6675120" cy="3291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1521440" y="5349240"/>
            <a:ext cx="63093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uk-UA" b="1" sz="17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П’ятниця — 70,8, неділя — 50,5 </a:t>
            </a:r>
            <a:r>
              <a:rPr lang="uk-UA" b="0" sz="17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замовлення на день. Понеділків було лише 48, тому порівнюємо середнє, а не суму.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4366" y="-196806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408865" y="-392510"/>
            <a:ext cx="7501837" cy="11072020"/>
            <a:chOff x="0" y="0"/>
            <a:chExt cx="1975792" cy="2916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793" cy="2916088"/>
            </a:xfrm>
            <a:custGeom>
              <a:avLst/>
              <a:gdLst/>
              <a:ahLst/>
              <a:cxnLst/>
              <a:rect r="r" b="b" t="t" l="l"/>
              <a:pathLst>
                <a:path h="2916088" w="1975793">
                  <a:moveTo>
                    <a:pt x="0" y="0"/>
                  </a:moveTo>
                  <a:lnTo>
                    <a:pt x="1975793" y="0"/>
                  </a:lnTo>
                  <a:lnTo>
                    <a:pt x="197579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975792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31877" y="633234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8159298" y="1005840"/>
            <a:ext cx="932688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sz="84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КУРЯЧІ ПІЦИ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sz="84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ЗАРОБЛЯЮТЬ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988633" y="-146732"/>
            <a:ext cx="6026397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59298" y="3429000"/>
            <a:ext cx="932688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34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а класичні продаються штуками</a:t>
            </a: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5051534" y="7300883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13" id="13"/>
          <p:cNvSpPr txBox="true"/>
          <p:nvPr/>
        </p:nvSpPr>
        <p:spPr>
          <a:xfrm rot="-5400000">
            <a:off x="5388008" y="2353136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2015</a:t>
            </a:r>
          </a:p>
        </p:txBody>
      </p:sp>
      <p:sp>
        <p:nvSpPr>
          <p:cNvPr name="TextBox 14" id="14"/>
          <p:cNvSpPr txBox="true"/>
          <p:nvPr/>
        </p:nvSpPr>
        <p:spPr>
          <a:xfrm rot="-5400000">
            <a:off x="5388008" y="4612828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009823" y="439935"/>
            <a:ext cx="643045" cy="9407130"/>
            <a:chOff x="0" y="0"/>
            <a:chExt cx="169362" cy="24775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9362" cy="2477598"/>
            </a:xfrm>
            <a:custGeom>
              <a:avLst/>
              <a:gdLst/>
              <a:ahLst/>
              <a:cxnLst/>
              <a:rect r="r" b="b" t="t" l="l"/>
              <a:pathLst>
                <a:path h="2477598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69362" cy="253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8156448" y="43434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4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ТОП-5 ЗА ВИРУЧКОЮ, ТИС. $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001000" y="4663440"/>
          <a:ext cx="466344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2893040" y="43434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400">
                <a:solidFill>
                  <a:srgbClr val="C9773F"/>
                </a:solidFill>
                <a:latin typeface="Montserrat"/>
                <a:ea typeface="Montserrat"/>
                <a:cs typeface="Montserrat"/>
                <a:sym typeface="Montserrat"/>
              </a:rPr>
              <a:t>ОСТАННІ 5 ЗА ВИРУЧКОЮ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12755880" y="4663440"/>
          <a:ext cx="4663440" cy="49377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85800" y="4572000"/>
            <a:ext cx="4937760" cy="502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lang="uk-UA" b="1" sz="66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3 з 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lang="uk-UA" b="0" sz="18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піц збігаються в топ-5 за виручкою і за кількістю.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lang="uk-UA" b="0" sz="160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Hawaiian і Pepperoni в топі за штуками, але дешеві: у виручці лише 8-ма й 11-та.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9950507" y="7177426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1784357">
            <a:off x="-575872" y="-647487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0" y="-392510"/>
            <a:ext cx="2222584" cy="11072020"/>
            <a:chOff x="0" y="0"/>
            <a:chExt cx="585372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2" cy="2916088"/>
            </a:xfrm>
            <a:custGeom>
              <a:avLst/>
              <a:gdLst/>
              <a:ahLst/>
              <a:cxnLst/>
              <a:rect r="r" b="b" t="t" l="l"/>
              <a:pathLst>
                <a:path h="2916088" w="585372">
                  <a:moveTo>
                    <a:pt x="0" y="0"/>
                  </a:moveTo>
                  <a:lnTo>
                    <a:pt x="585372" y="0"/>
                  </a:lnTo>
                  <a:lnTo>
                    <a:pt x="58537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2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68336" y="1192731"/>
            <a:ext cx="333375" cy="333375"/>
            <a:chOff x="0" y="0"/>
            <a:chExt cx="87802" cy="878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802" cy="87802"/>
            </a:xfrm>
            <a:custGeom>
              <a:avLst/>
              <a:gdLst/>
              <a:ahLst/>
              <a:cxnLst/>
              <a:rect r="r" b="b" t="t" l="l"/>
              <a:pathLst>
                <a:path h="87802" w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98508" y="1192731"/>
            <a:ext cx="333375" cy="333375"/>
            <a:chOff x="0" y="0"/>
            <a:chExt cx="87802" cy="878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802" cy="87802"/>
            </a:xfrm>
            <a:custGeom>
              <a:avLst/>
              <a:gdLst/>
              <a:ahLst/>
              <a:cxnLst/>
              <a:rect r="r" b="b" t="t" l="l"/>
              <a:pathLst>
                <a:path h="87802" w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68336" y="3612297"/>
            <a:ext cx="333375" cy="333375"/>
            <a:chOff x="0" y="0"/>
            <a:chExt cx="87802" cy="878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802" cy="87802"/>
            </a:xfrm>
            <a:custGeom>
              <a:avLst/>
              <a:gdLst/>
              <a:ahLst/>
              <a:cxnLst/>
              <a:rect r="r" b="b" t="t" l="l"/>
              <a:pathLst>
                <a:path h="87802" w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98508" y="3612297"/>
            <a:ext cx="333375" cy="333375"/>
            <a:chOff x="0" y="0"/>
            <a:chExt cx="87802" cy="878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802" cy="87802"/>
            </a:xfrm>
            <a:custGeom>
              <a:avLst/>
              <a:gdLst/>
              <a:ahLst/>
              <a:cxnLst/>
              <a:rect r="r" b="b" t="t" l="l"/>
              <a:pathLst>
                <a:path h="87802" w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9303" y="3524696"/>
            <a:ext cx="643045" cy="7154814"/>
            <a:chOff x="0" y="0"/>
            <a:chExt cx="169362" cy="18843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9362" cy="1884395"/>
            </a:xfrm>
            <a:custGeom>
              <a:avLst/>
              <a:gdLst/>
              <a:ahLst/>
              <a:cxnLst/>
              <a:rect r="r" b="b" t="t" l="l"/>
              <a:pathLst>
                <a:path h="1884395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799715"/>
                  </a:lnTo>
                  <a:cubicBezTo>
                    <a:pt x="169362" y="1846483"/>
                    <a:pt x="131449" y="1884395"/>
                    <a:pt x="84681" y="1884395"/>
                  </a:cubicBezTo>
                  <a:lnTo>
                    <a:pt x="84681" y="1884395"/>
                  </a:lnTo>
                  <a:cubicBezTo>
                    <a:pt x="62222" y="1884395"/>
                    <a:pt x="40683" y="1875474"/>
                    <a:pt x="24802" y="1859593"/>
                  </a:cubicBezTo>
                  <a:cubicBezTo>
                    <a:pt x="8922" y="1843712"/>
                    <a:pt x="0" y="1822173"/>
                    <a:pt x="0" y="1799715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69362" cy="1941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-5400000">
            <a:off x="301014" y="7560306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23" id="23"/>
          <p:cNvSpPr txBox="true"/>
          <p:nvPr/>
        </p:nvSpPr>
        <p:spPr>
          <a:xfrm rot="-5400000">
            <a:off x="637488" y="4872252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-1110727" y="-531114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05732" y="5897880"/>
            <a:ext cx="987552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sz="69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РОЗМІР L ДАЄ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sz="69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МАЙЖЕ ПОЛОВИНУ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05732" y="8412480"/>
            <a:ext cx="98755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30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а категорії ділять виручку майже порівну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74172" y="3555147"/>
            <a:ext cx="3749039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22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Veggie · 23,7 %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16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$193 690 · 11 649 піц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0" y="3555147"/>
            <a:ext cx="3749039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22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Chicken · 24,0 %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16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$195 920 · 11 050 піц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0" y="1135581"/>
            <a:ext cx="3749039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22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Classic · 26,9 %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16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$220 053 · 14 888 піц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74172" y="1135581"/>
            <a:ext cx="3749039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22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Supreme · 25,5 %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16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$208 197 · 11 987 піц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75920" y="4892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1" sz="140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ЧАСТКА ВИРУЧКИ ЗА РОЗМІРОМ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12893040" y="5212080"/>
          <a:ext cx="5029200" cy="3931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3075920" y="918972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b="0" sz="1300">
                <a:solidFill>
                  <a:srgbClr val="34343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XL і XXL є лише в The Greek; XXL купили 28 разів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-467361" y="-2757747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86204" y="6250419"/>
            <a:ext cx="11514218" cy="8506128"/>
          </a:xfrm>
          <a:custGeom>
            <a:avLst/>
            <a:gdLst/>
            <a:ahLst/>
            <a:cxnLst/>
            <a:rect r="r" b="b" t="t" l="l"/>
            <a:pathLst>
              <a:path h="8506128" w="1151421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17259300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021110" y="782737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05333" y="782737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45641" y="782737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11279340" y="-3711595"/>
            <a:ext cx="643045" cy="9407130"/>
            <a:chOff x="0" y="0"/>
            <a:chExt cx="169362" cy="24775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362" cy="2477598"/>
            </a:xfrm>
            <a:custGeom>
              <a:avLst/>
              <a:gdLst/>
              <a:ahLst/>
              <a:cxnLst/>
              <a:rect r="r" b="b" t="t" l="l"/>
              <a:pathLst>
                <a:path h="2477598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69362" cy="253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041524" y="6795739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737360"/>
            <a:ext cx="12765895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72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ПРИБРАТИ 4 ПІЦИ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34640"/>
            <a:ext cx="128016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30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Це 7,1 % виручки і 9 інгредієнтів, яких немає в інших піцах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05840" y="3840480"/>
          <a:ext cx="10972800" cy="576071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17520"/>
                <a:gridCol w="1417320"/>
                <a:gridCol w="960120"/>
                <a:gridCol w="1143000"/>
                <a:gridCol w="1234440"/>
                <a:gridCol w="1234440"/>
                <a:gridCol w="1965960"/>
              </a:tblGrid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3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Піца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4B8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1" sz="13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Виручка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4B8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1" sz="13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Штук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4B8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1" sz="13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Частка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4B8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1" sz="13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Накопич.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4B8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1" sz="13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Унік. інгр.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4B8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300">
                          <a:solidFill>
                            <a:srgbClr val="164B8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Рішення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64B82"/>
                      </a:solidFill>
                    </a:lnB>
                    <a:noFill/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Brie Carre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$11 588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490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1,42 %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1,4 %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400">
                          <a:solidFill>
                            <a:srgbClr val="C9773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прибрати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Green Garden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$13 956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997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1,71 %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3,1 %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uk-UA" b="0" sz="1400">
                          <a:solidFill>
                            <a:srgbClr val="2F679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спостерігати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Spinach Supreme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$15 278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950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1,87 %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5,0 %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400">
                          <a:solidFill>
                            <a:srgbClr val="C9773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прибрати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Mediterranean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$15 360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1,88 %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6,9 %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400">
                          <a:solidFill>
                            <a:srgbClr val="C9773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прибрати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Spinach Pesto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$15 596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970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1,91 %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8,8 %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uk-UA" b="0" sz="1400">
                          <a:solidFill>
                            <a:srgbClr val="2F679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спостерігати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Calabrese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$15 934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937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1,95 %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10,7 %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uk-UA" b="1" sz="1400">
                          <a:solidFill>
                            <a:srgbClr val="C9773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прибрати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solidFill>
                      <a:srgbClr val="F6E3D4"/>
                    </a:solidFill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Italian Vegetables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$16 019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981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1,96 %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12,7 %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uk-UA" b="0" sz="1400">
                          <a:solidFill>
                            <a:srgbClr val="2F679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спостерігати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Soppressata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$16 426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961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2,01 %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14,7 %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uk-UA" b="0" sz="1400">
                          <a:solidFill>
                            <a:srgbClr val="2F679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Chicken Pesto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$16 702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973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2,04 %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16,7 %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uk-UA" b="0" sz="1400">
                          <a:solidFill>
                            <a:srgbClr val="2F679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</a:tr>
              <a:tr h="523701">
                <a:tc>
                  <a:txBody>
                    <a:bodyPr wrap="square"/>
                    <a:lstStyle/>
                    <a:p>
                      <a:pPr algn="l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Chicken Alfredo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$16 900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987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2,07 %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18,8 %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uk-UA" b="0" sz="1400">
                          <a:solidFill>
                            <a:srgbClr val="343434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uk-UA" b="0" sz="1400">
                          <a:solidFill>
                            <a:srgbClr val="2F679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9D8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2435840" y="3840480"/>
            <a:ext cx="44805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lang="uk-UA" b="1" sz="16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Правило: </a:t>
            </a:r>
            <a:r>
              <a:rPr lang="uk-UA" b="0" sz="16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&lt; 2 % виручки і &lt; 1 000 шт. Таких 7; прибираємо ті, що тягнуть унікальні інгредієнти.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lang="uk-UA" b="1" sz="16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Під ризиком $58 161 </a:t>
            </a:r>
            <a:r>
              <a:rPr lang="uk-UA" b="0" sz="16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(верхня межа). Green Garden лишаємо: 997 шт., без унікальних інгредієнтів.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14668" y="-3157079"/>
            <a:ext cx="15827806" cy="6707033"/>
          </a:xfrm>
          <a:custGeom>
            <a:avLst/>
            <a:gdLst/>
            <a:ahLst/>
            <a:cxnLst/>
            <a:rect r="r" b="b" t="t" l="l"/>
            <a:pathLst>
              <a:path h="6707033" w="15827806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false" rot="-2120312">
            <a:off x="-3187662" y="9611699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-408865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51945" y="3691521"/>
            <a:ext cx="6895551" cy="1521052"/>
            <a:chOff x="0" y="0"/>
            <a:chExt cx="1816112" cy="400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6112" cy="400606"/>
            </a:xfrm>
            <a:custGeom>
              <a:avLst/>
              <a:gdLst/>
              <a:ahLst/>
              <a:cxnLst/>
              <a:rect r="r" b="b" t="t" l="l"/>
              <a:pathLst>
                <a:path h="400606" w="1816112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51945" y="5489893"/>
            <a:ext cx="6895551" cy="1521052"/>
            <a:chOff x="0" y="0"/>
            <a:chExt cx="1816112" cy="400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16112" cy="400606"/>
            </a:xfrm>
            <a:custGeom>
              <a:avLst/>
              <a:gdLst/>
              <a:ahLst/>
              <a:cxnLst/>
              <a:rect r="r" b="b" t="t" l="l"/>
              <a:pathLst>
                <a:path h="400606" w="1816112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69338" y="1600200"/>
            <a:ext cx="822960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sz="81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ВЕЛИКІ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sz="81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ЗАМОВЛЕННЯ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29423" y="-580405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9338" y="3977639"/>
            <a:ext cx="82296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uk-UA" sz="32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Кожне п’яте замовлення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uk-UA" sz="32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має 4 і більше піц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07040" y="4014215"/>
            <a:ext cx="26517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3600" spc="134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18,2 %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07040" y="5806440"/>
            <a:ext cx="26517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3600" spc="134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39,4 %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69338" y="5669280"/>
            <a:ext cx="786384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uk-UA" sz="1900" spc="95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Пропозиція для компаній має сенс. </a:t>
            </a:r>
            <a:r>
              <a:rPr lang="uk-UA" sz="1900" spc="95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27 % великих замовлень приходить у 12:00–14:00. Передзамовлення від 5 піц до 10:30 зі знижкою допоможе кухні підготуватися до піку.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58800" y="3822191"/>
            <a:ext cx="3749039" cy="1261872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sz="1600" spc="85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замовлень мають 4+ піци: 3 880 з 21 350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58800" y="5614416"/>
            <a:ext cx="3749039" cy="1261872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sz="1600" spc="85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виручки дають великі замовлення: $322 571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93151" y="783695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77374" y="783695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17681" y="783695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grpSp>
        <p:nvGrpSpPr>
          <p:cNvPr name="Group 24" id="24"/>
          <p:cNvGrpSpPr/>
          <p:nvPr/>
        </p:nvGrpSpPr>
        <p:grpSpPr>
          <a:xfrm rot="5400000">
            <a:off x="6251381" y="-3710637"/>
            <a:ext cx="643045" cy="9407130"/>
            <a:chOff x="0" y="0"/>
            <a:chExt cx="169362" cy="24775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9362" cy="2477598"/>
            </a:xfrm>
            <a:custGeom>
              <a:avLst/>
              <a:gdLst/>
              <a:ahLst/>
              <a:cxnLst/>
              <a:rect r="r" b="b" t="t" l="l"/>
              <a:pathLst>
                <a:path h="2477598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69362" cy="253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351945" y="7288265"/>
            <a:ext cx="6895551" cy="1521052"/>
            <a:chOff x="0" y="0"/>
            <a:chExt cx="1816112" cy="4006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16112" cy="400606"/>
            </a:xfrm>
            <a:custGeom>
              <a:avLst/>
              <a:gdLst/>
              <a:ahLst/>
              <a:cxnLst/>
              <a:rect r="r" b="b" t="t" l="l"/>
              <a:pathLst>
                <a:path h="400606" w="1816112">
                  <a:moveTo>
                    <a:pt x="0" y="0"/>
                  </a:moveTo>
                  <a:lnTo>
                    <a:pt x="1816112" y="0"/>
                  </a:lnTo>
                  <a:lnTo>
                    <a:pt x="181611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81611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607040" y="7607808"/>
            <a:ext cx="265176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3600" spc="134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$83,14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58800" y="7415783"/>
            <a:ext cx="3749039" cy="1261872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sz="1600" spc="85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середній чек проти $28,35 у звичайних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92510"/>
            <a:ext cx="5212196" cy="11072020"/>
            <a:chOff x="0" y="0"/>
            <a:chExt cx="1372759" cy="291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2759" cy="2916088"/>
            </a:xfrm>
            <a:custGeom>
              <a:avLst/>
              <a:gdLst/>
              <a:ahLst/>
              <a:cxnLst/>
              <a:rect r="r" b="b" t="t" l="l"/>
              <a:pathLst>
                <a:path h="2916088" w="1372759">
                  <a:moveTo>
                    <a:pt x="0" y="0"/>
                  </a:moveTo>
                  <a:lnTo>
                    <a:pt x="1372759" y="0"/>
                  </a:lnTo>
                  <a:lnTo>
                    <a:pt x="1372759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72759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269688">
            <a:off x="5419533" y="809048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-5400000">
            <a:off x="-2253996" y="3959352"/>
            <a:ext cx="9720072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lang="uk-UA" sz="960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ВІКНО</a:t>
            </a:r>
          </a:p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lang="uk-UA" sz="960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ДЛЯ АКЦІЇ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4362236">
            <a:off x="13391562" y="-1431588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6" y="0"/>
                </a:lnTo>
                <a:lnTo>
                  <a:pt x="7735476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3261399" y="-837437"/>
            <a:ext cx="6026397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</a:p>
        </p:txBody>
      </p:sp>
      <p:grpSp>
        <p:nvGrpSpPr>
          <p:cNvPr name="Group 9" id="9"/>
          <p:cNvGrpSpPr/>
          <p:nvPr/>
        </p:nvGrpSpPr>
        <p:grpSpPr>
          <a:xfrm rot="5400000">
            <a:off x="10307317" y="-3710637"/>
            <a:ext cx="643045" cy="9407130"/>
            <a:chOff x="0" y="0"/>
            <a:chExt cx="169362" cy="24775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362" cy="2477598"/>
            </a:xfrm>
            <a:custGeom>
              <a:avLst/>
              <a:gdLst/>
              <a:ahLst/>
              <a:cxnLst/>
              <a:rect r="r" b="b" t="t" l="l"/>
              <a:pathLst>
                <a:path h="2477598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9362" cy="253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049087" y="783695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33310" y="783695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73618" y="783695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25275" y="1737360"/>
            <a:ext cx="1115568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sz="38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Будні 14:00–17:00: +10 % тут дасть</a:t>
            </a:r>
          </a:p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lang="uk-UA" sz="38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+$12,8 тис. виручки на рік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922213" y="3990059"/>
            <a:ext cx="333375" cy="333375"/>
            <a:chOff x="0" y="0"/>
            <a:chExt cx="87802" cy="878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802" cy="87802"/>
            </a:xfrm>
            <a:custGeom>
              <a:avLst/>
              <a:gdLst/>
              <a:ahLst/>
              <a:cxnLst/>
              <a:rect r="r" b="b" t="t" l="l"/>
              <a:pathLst>
                <a:path h="87802" w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922213" y="6463875"/>
            <a:ext cx="333375" cy="333375"/>
            <a:chOff x="0" y="0"/>
            <a:chExt cx="87802" cy="878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7802" cy="87802"/>
            </a:xfrm>
            <a:custGeom>
              <a:avLst/>
              <a:gdLst/>
              <a:ahLst/>
              <a:cxnLst/>
              <a:rect r="r" b="b" t="t" l="l"/>
              <a:pathLst>
                <a:path h="87802" w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70161" y="3990059"/>
            <a:ext cx="333375" cy="333375"/>
            <a:chOff x="0" y="0"/>
            <a:chExt cx="87802" cy="878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802" cy="87802"/>
            </a:xfrm>
            <a:custGeom>
              <a:avLst/>
              <a:gdLst/>
              <a:ahLst/>
              <a:cxnLst/>
              <a:rect r="r" b="b" t="t" l="l"/>
              <a:pathLst>
                <a:path h="87802" w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70161" y="6463875"/>
            <a:ext cx="333375" cy="333375"/>
            <a:chOff x="0" y="0"/>
            <a:chExt cx="87802" cy="878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802" cy="87802"/>
            </a:xfrm>
            <a:custGeom>
              <a:avLst/>
              <a:gdLst/>
              <a:ahLst/>
              <a:cxnLst/>
              <a:rect r="r" b="b" t="t" l="l"/>
              <a:pathLst>
                <a:path h="87802" w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463071" y="4009109"/>
            <a:ext cx="4206240" cy="34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2000" b="1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A · ПН–ПТ 14–17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63071" y="6482925"/>
            <a:ext cx="4206240" cy="34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20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B · НЕДІЛЯ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11020" y="4009109"/>
            <a:ext cx="4206240" cy="34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20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«ПЕРЕРВА О 14-Й»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11020" y="6482925"/>
            <a:ext cx="4206240" cy="34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20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 · НД–ЧТ ПІСЛЯ 21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22213" y="4456255"/>
            <a:ext cx="4480560" cy="173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uk-UA" sz="16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$127 708 на рік (15,6 %); +10 % = +$12 771. Кухня завантажена наполовину, персонал уже на зміні.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22213" y="6930071"/>
            <a:ext cx="4480560" cy="173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uk-UA" sz="16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Найслабший день: $1 908 проти $2 721 у п’ятницю. Сімейний сет: +10 % = +$9 920.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270161" y="4456255"/>
            <a:ext cx="4480560" cy="173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uk-UA" sz="16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Друга піца M за −30 %. У цьому вікні 45 % виручки дає L, тож знижка не з’їдає основні продажі.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270161" y="6930071"/>
            <a:ext cx="4480560" cy="173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uk-UA" sz="16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Лише 3,2 % виручки; +10 % = +$2 577. Це питання графіка змін, а не акції.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9950507" y="7177426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1784357">
            <a:off x="-575872" y="-647487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0" y="-392510"/>
            <a:ext cx="2222584" cy="11072020"/>
            <a:chOff x="0" y="0"/>
            <a:chExt cx="585372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2" cy="2916088"/>
            </a:xfrm>
            <a:custGeom>
              <a:avLst/>
              <a:gdLst/>
              <a:ahLst/>
              <a:cxnLst/>
              <a:rect r="r" b="b" t="t" l="l"/>
              <a:pathLst>
                <a:path h="2916088" w="585372">
                  <a:moveTo>
                    <a:pt x="0" y="0"/>
                  </a:moveTo>
                  <a:lnTo>
                    <a:pt x="585372" y="0"/>
                  </a:lnTo>
                  <a:lnTo>
                    <a:pt x="58537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2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468336" y="1192731"/>
            <a:ext cx="333375" cy="333375"/>
            <a:chOff x="0" y="0"/>
            <a:chExt cx="87802" cy="878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802" cy="87802"/>
            </a:xfrm>
            <a:custGeom>
              <a:avLst/>
              <a:gdLst/>
              <a:ahLst/>
              <a:cxnLst/>
              <a:rect r="r" b="b" t="t" l="l"/>
              <a:pathLst>
                <a:path h="87802" w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98508" y="1192731"/>
            <a:ext cx="333375" cy="333375"/>
            <a:chOff x="0" y="0"/>
            <a:chExt cx="87802" cy="878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802" cy="87802"/>
            </a:xfrm>
            <a:custGeom>
              <a:avLst/>
              <a:gdLst/>
              <a:ahLst/>
              <a:cxnLst/>
              <a:rect r="r" b="b" t="t" l="l"/>
              <a:pathLst>
                <a:path h="87802" w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68336" y="3612297"/>
            <a:ext cx="333375" cy="333375"/>
            <a:chOff x="0" y="0"/>
            <a:chExt cx="87802" cy="878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802" cy="87802"/>
            </a:xfrm>
            <a:custGeom>
              <a:avLst/>
              <a:gdLst/>
              <a:ahLst/>
              <a:cxnLst/>
              <a:rect r="r" b="b" t="t" l="l"/>
              <a:pathLst>
                <a:path h="87802" w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98508" y="3612297"/>
            <a:ext cx="333375" cy="333375"/>
            <a:chOff x="0" y="0"/>
            <a:chExt cx="87802" cy="878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802" cy="87802"/>
            </a:xfrm>
            <a:custGeom>
              <a:avLst/>
              <a:gdLst/>
              <a:ahLst/>
              <a:cxnLst/>
              <a:rect r="r" b="b" t="t" l="l"/>
              <a:pathLst>
                <a:path h="87802" w="87802">
                  <a:moveTo>
                    <a:pt x="0" y="0"/>
                  </a:moveTo>
                  <a:lnTo>
                    <a:pt x="87802" y="0"/>
                  </a:lnTo>
                  <a:lnTo>
                    <a:pt x="87802" y="87802"/>
                  </a:lnTo>
                  <a:lnTo>
                    <a:pt x="0" y="8780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7802" cy="14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9303" y="3524696"/>
            <a:ext cx="643045" cy="7154814"/>
            <a:chOff x="0" y="0"/>
            <a:chExt cx="169362" cy="18843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9362" cy="1884395"/>
            </a:xfrm>
            <a:custGeom>
              <a:avLst/>
              <a:gdLst/>
              <a:ahLst/>
              <a:cxnLst/>
              <a:rect r="r" b="b" t="t" l="l"/>
              <a:pathLst>
                <a:path h="1884395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799715"/>
                  </a:lnTo>
                  <a:cubicBezTo>
                    <a:pt x="169362" y="1846483"/>
                    <a:pt x="131449" y="1884395"/>
                    <a:pt x="84681" y="1884395"/>
                  </a:cubicBezTo>
                  <a:lnTo>
                    <a:pt x="84681" y="1884395"/>
                  </a:lnTo>
                  <a:cubicBezTo>
                    <a:pt x="62222" y="1884395"/>
                    <a:pt x="40683" y="1875474"/>
                    <a:pt x="24802" y="1859593"/>
                  </a:cubicBezTo>
                  <a:cubicBezTo>
                    <a:pt x="8922" y="1843712"/>
                    <a:pt x="0" y="1822173"/>
                    <a:pt x="0" y="1799715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69362" cy="1941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-5400000">
            <a:off x="301014" y="7560306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23" id="23"/>
          <p:cNvSpPr txBox="true"/>
          <p:nvPr/>
        </p:nvSpPr>
        <p:spPr>
          <a:xfrm rot="-5400000">
            <a:off x="637488" y="4872252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F2F7FA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-1110727" y="-531114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05732" y="5897880"/>
            <a:ext cx="987552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sz="82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ДАШБОРД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sz="82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TABLEAU PUBLIC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05732" y="8412480"/>
            <a:ext cx="98755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25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Лаура сама фільтрує за місяцем, категорією та розміром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74172" y="3555147"/>
            <a:ext cx="3749039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20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Розраховані поля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16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Avg Check, Weekday Order, Avg Orders per Hour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0" y="3555147"/>
            <a:ext cx="3749039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20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Топ і антитоп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16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параметр Top N від 3 до 15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0" y="1135581"/>
            <a:ext cx="3749039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20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KPI і тренд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16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виручка, замовлення, піци, чек; стовпці й лінія по місяцях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74172" y="1135581"/>
            <a:ext cx="3749039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20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Теплова карта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lang="uk-UA" sz="16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день тижня × година; клік фільтрує інші графіки</a:t>
            </a:r>
          </a:p>
        </p:txBody>
      </p:sp>
      <p:sp>
        <p:nvSpPr>
          <p:cNvPr id="35" name="Rounded Rectangle 34">
            <a:hlinkClick r:id="rId4"/>
          </p:cNvPr>
          <p:cNvSpPr/>
          <p:nvPr/>
        </p:nvSpPr>
        <p:spPr>
          <a:xfrm>
            <a:off x="13075920" y="5120640"/>
            <a:ext cx="4663440" cy="2103120"/>
          </a:xfrm>
          <a:prstGeom prst="roundRect">
            <a:avLst>
              <a:gd name="adj" fmla="val 13043"/>
            </a:avLst>
          </a:prstGeom>
          <a:gradFill rotWithShape="1">
            <a:gsLst>
              <a:gs pos="0">
                <a:srgbClr val="E4B795"/>
              </a:gs>
              <a:gs pos="50000">
                <a:srgbClr val="699ACD"/>
              </a:gs>
              <a:gs pos="100000">
                <a:srgbClr val="2F679F"/>
              </a:gs>
            </a:gsLst>
            <a:path path="circle">
              <a:fillToRect l="0" t="0" r="100000" b="100000"/>
            </a:path>
            <a:tileRect l="-100000" t="-100000" r="0" b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>
            <a:hlinkClick r:id="rId4"/>
          </p:cNvPr>
          <p:cNvSpPr txBox="1"/>
          <p:nvPr/>
        </p:nvSpPr>
        <p:spPr>
          <a:xfrm>
            <a:off x="13395960" y="5257800"/>
            <a:ext cx="41148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uk-UA" b="1" sz="21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ВІДКРИТИ ДАШБОРД ↗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uk-UA" b="0" sz="13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public.tableau.com/app/profile/rut.albrekht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075920" y="7452360"/>
            <a:ext cx="4663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uk-UA" b="0" sz="15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Наживо: фільтр Chicken → Top N = 10 → клік по клітинці «Пн, 15:00»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64248" y="9337770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48471" y="9337770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88778" y="9337770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  <p:grpSp>
        <p:nvGrpSpPr>
          <p:cNvPr name="Group 5" id="5"/>
          <p:cNvGrpSpPr/>
          <p:nvPr/>
        </p:nvGrpSpPr>
        <p:grpSpPr>
          <a:xfrm rot="5400000">
            <a:off x="8822478" y="4843437"/>
            <a:ext cx="643045" cy="9407130"/>
            <a:chOff x="0" y="0"/>
            <a:chExt cx="169362" cy="2477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9362" cy="2477598"/>
            </a:xfrm>
            <a:custGeom>
              <a:avLst/>
              <a:gdLst/>
              <a:ahLst/>
              <a:cxnLst/>
              <a:rect r="r" b="b" t="t" l="l"/>
              <a:pathLst>
                <a:path h="2477598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69362" cy="2534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225008">
            <a:off x="9950507" y="7177426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-8410460">
            <a:off x="1935723" y="-5126712"/>
            <a:ext cx="11976399" cy="7170869"/>
          </a:xfrm>
          <a:custGeom>
            <a:avLst/>
            <a:gdLst/>
            <a:ahLst/>
            <a:cxnLst/>
            <a:rect r="r" b="b" t="t" l="l"/>
            <a:pathLst>
              <a:path h="7170869" w="1197639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2664408" y="-882202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1028700"/>
            <a:ext cx="5473709" cy="2431846"/>
            <a:chOff x="0" y="0"/>
            <a:chExt cx="1441635" cy="640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655775"/>
            <a:ext cx="5473709" cy="2431846"/>
            <a:chOff x="0" y="0"/>
            <a:chExt cx="1441635" cy="6404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6286752"/>
            <a:ext cx="5473709" cy="2431846"/>
            <a:chOff x="0" y="0"/>
            <a:chExt cx="1441635" cy="6404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85591" y="1028700"/>
            <a:ext cx="5473709" cy="2431846"/>
            <a:chOff x="0" y="0"/>
            <a:chExt cx="1441635" cy="6404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85591" y="3655775"/>
            <a:ext cx="5473709" cy="2431846"/>
            <a:chOff x="0" y="0"/>
            <a:chExt cx="1441635" cy="6404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85591" y="6286752"/>
            <a:ext cx="5473709" cy="2431846"/>
            <a:chOff x="0" y="0"/>
            <a:chExt cx="1441635" cy="6404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41635" cy="640486"/>
            </a:xfrm>
            <a:custGeom>
              <a:avLst/>
              <a:gdLst/>
              <a:ahLst/>
              <a:cxnLst/>
              <a:rect r="r" b="b" t="t" l="l"/>
              <a:pathLst>
                <a:path h="640486" w="1441635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441635" cy="697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8700" y="1789324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85591" y="1789324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4416399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85591" y="4416399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591555" y="3945293"/>
            <a:ext cx="5009307" cy="1852811"/>
            <a:chOff x="0" y="0"/>
            <a:chExt cx="6679077" cy="2470414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47625"/>
              <a:ext cx="6679077" cy="191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uk-UA" b="1" sz="5400">
                  <a:solidFill>
                    <a:srgbClr val="3434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 РІШЕННЯ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1905208"/>
              <a:ext cx="6679077" cy="565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uk-UA" sz="2400" spc="58" b="0">
                  <a:solidFill>
                    <a:srgbClr val="3434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НА СІЧЕНЬ 2016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526047" y="1206716"/>
            <a:ext cx="3703320" cy="201168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Графік змін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Пн–Пт 11:30–14:00: +1 людина на кухні. Щодня 17–19 повний склад, Пт–Сб до 21:00.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82938" y="1206716"/>
            <a:ext cx="3703320" cy="201168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Тихі години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Нд–Чт після 21:00 мінімальний склад; закриття о 22:00 зачепить ≤ $11,1 тис. (1,4 %).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26047" y="3833791"/>
            <a:ext cx="3703320" cy="201168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Меню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Прибрати Brie Carre, Mediterranean, Spinach Supreme, Calabrese і розмір XXL.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282938" y="3833791"/>
            <a:ext cx="3703320" cy="201168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Менше списань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≤ 7,1 % виручки під ризиком і на 9 унікальних інгредієнтів менше в закупівлі.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7043474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785591" y="7043474"/>
            <a:ext cx="1497347" cy="98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64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526047" y="6460866"/>
            <a:ext cx="3703320" cy="201168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Акція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«Перерва о 14-й»: Пн–Пт 14:00–17:00, друга піца M за −30 %.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282938" y="6460866"/>
            <a:ext cx="3703320" cy="2011680"/>
          </a:xfrm>
          <a:prstGeom prst="rect">
            <a:avLst/>
          </a:prstGeom>
        </p:spPr>
        <p:txBody>
          <a:bodyPr anchor="ctr" rtlCol="false" tIns="0" lIns="0" bIns="0" r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800" spc="80" b="1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+$12,8 тис. на рік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300"/>
              </a:spcAft>
            </a:pPr>
            <a:r>
              <a:rPr lang="uk-UA" sz="1500" spc="8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при +10 % у вікні. Далі недільний сет і передзамовлення для офісів.</a:t>
            </a:r>
          </a:p>
        </p:txBody>
      </p:sp>
      <p:sp>
        <p:nvSpPr>
          <p:cNvPr name="Freeform 44" id="44"/>
          <p:cNvSpPr/>
          <p:nvPr/>
        </p:nvSpPr>
        <p:spPr>
          <a:xfrm>
            <a:off x="6502409" y="2244623"/>
            <a:ext cx="5283181" cy="1455558"/>
          </a:xfrm>
          <a:custGeom>
            <a:avLst/>
            <a:gdLst/>
            <a:ahLst/>
            <a:cxnLst/>
            <a:rect r="r" b="b" t="t" l="l"/>
            <a:pathLst>
              <a:path h="1455558" w="5283181">
                <a:moveTo>
                  <a:pt x="0" y="0"/>
                </a:moveTo>
                <a:lnTo>
                  <a:pt x="719602" y="0"/>
                </a:lnTo>
                <a:cubicBezTo>
                  <a:pt x="780231" y="0"/>
                  <a:pt x="838376" y="24085"/>
                  <a:pt x="881247" y="66956"/>
                </a:cubicBezTo>
                <a:cubicBezTo>
                  <a:pt x="924118" y="109827"/>
                  <a:pt x="948202" y="167972"/>
                  <a:pt x="948202" y="228600"/>
                </a:cubicBezTo>
                <a:lnTo>
                  <a:pt x="948202" y="1226958"/>
                </a:lnTo>
                <a:cubicBezTo>
                  <a:pt x="948202" y="1287587"/>
                  <a:pt x="972287" y="1345732"/>
                  <a:pt x="1015158" y="1388603"/>
                </a:cubicBezTo>
                <a:cubicBezTo>
                  <a:pt x="1058028" y="1431474"/>
                  <a:pt x="1116173" y="1455558"/>
                  <a:pt x="1176802" y="1455558"/>
                </a:cubicBezTo>
                <a:lnTo>
                  <a:pt x="3910125" y="1455558"/>
                </a:lnTo>
                <a:cubicBezTo>
                  <a:pt x="4036377" y="1455558"/>
                  <a:pt x="4138725" y="1353210"/>
                  <a:pt x="4138725" y="1226958"/>
                </a:cubicBezTo>
                <a:lnTo>
                  <a:pt x="4138725" y="228600"/>
                </a:lnTo>
                <a:cubicBezTo>
                  <a:pt x="4138725" y="102348"/>
                  <a:pt x="4241073" y="0"/>
                  <a:pt x="4367325" y="0"/>
                </a:cubicBezTo>
                <a:lnTo>
                  <a:pt x="5283182" y="0"/>
                </a:lnTo>
              </a:path>
            </a:pathLst>
          </a:custGeom>
          <a:ln cap="flat" w="19050">
            <a:solidFill>
              <a:srgbClr val="164B82"/>
            </a:solidFill>
            <a:prstDash val="sysDash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Freeform 45" id="45"/>
          <p:cNvSpPr/>
          <p:nvPr/>
        </p:nvSpPr>
        <p:spPr>
          <a:xfrm>
            <a:off x="6502409" y="6114288"/>
            <a:ext cx="5098453" cy="1388387"/>
          </a:xfrm>
          <a:custGeom>
            <a:avLst/>
            <a:gdLst/>
            <a:ahLst/>
            <a:cxnLst/>
            <a:rect r="r" b="b" t="t" l="l"/>
            <a:pathLst>
              <a:path h="1388387" w="5098453">
                <a:moveTo>
                  <a:pt x="0" y="1381809"/>
                </a:moveTo>
                <a:lnTo>
                  <a:pt x="719602" y="1381809"/>
                </a:lnTo>
                <a:cubicBezTo>
                  <a:pt x="845854" y="1381809"/>
                  <a:pt x="948202" y="1279461"/>
                  <a:pt x="948202" y="1153209"/>
                </a:cubicBezTo>
                <a:lnTo>
                  <a:pt x="948202" y="228600"/>
                </a:lnTo>
                <a:cubicBezTo>
                  <a:pt x="948202" y="167972"/>
                  <a:pt x="972287" y="109826"/>
                  <a:pt x="1015158" y="66955"/>
                </a:cubicBezTo>
                <a:cubicBezTo>
                  <a:pt x="1058028" y="24085"/>
                  <a:pt x="1116173" y="0"/>
                  <a:pt x="1176802" y="0"/>
                </a:cubicBezTo>
                <a:lnTo>
                  <a:pt x="3910125" y="0"/>
                </a:lnTo>
                <a:cubicBezTo>
                  <a:pt x="4036377" y="0"/>
                  <a:pt x="4138725" y="102348"/>
                  <a:pt x="4138725" y="228600"/>
                </a:cubicBezTo>
                <a:lnTo>
                  <a:pt x="4138725" y="1159787"/>
                </a:lnTo>
                <a:cubicBezTo>
                  <a:pt x="4138725" y="1220416"/>
                  <a:pt x="4162810" y="1278562"/>
                  <a:pt x="4205681" y="1321432"/>
                </a:cubicBezTo>
                <a:cubicBezTo>
                  <a:pt x="4248551" y="1364303"/>
                  <a:pt x="4306696" y="1388387"/>
                  <a:pt x="4367325" y="1388387"/>
                </a:cubicBezTo>
                <a:lnTo>
                  <a:pt x="5098453" y="1388387"/>
                </a:lnTo>
              </a:path>
            </a:pathLst>
          </a:custGeom>
          <a:ln cap="flat" w="19050">
            <a:solidFill>
              <a:srgbClr val="164B82"/>
            </a:solidFill>
            <a:prstDash val="sysDash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AutoShape 46" id="46"/>
          <p:cNvSpPr/>
          <p:nvPr/>
        </p:nvSpPr>
        <p:spPr>
          <a:xfrm>
            <a:off x="6502409" y="4871699"/>
            <a:ext cx="446710" cy="0"/>
          </a:xfrm>
          <a:prstGeom prst="line">
            <a:avLst/>
          </a:prstGeom>
          <a:ln cap="flat" w="19050">
            <a:solidFill>
              <a:srgbClr val="164B82"/>
            </a:solidFill>
            <a:prstDash val="sysDash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AutoShape 47" id="47"/>
          <p:cNvSpPr/>
          <p:nvPr/>
        </p:nvSpPr>
        <p:spPr>
          <a:xfrm flipV="true">
            <a:off x="11338881" y="4871699"/>
            <a:ext cx="556730" cy="0"/>
          </a:xfrm>
          <a:prstGeom prst="line">
            <a:avLst/>
          </a:prstGeom>
          <a:ln cap="flat" w="19050">
            <a:solidFill>
              <a:srgbClr val="164B82"/>
            </a:solidFill>
            <a:prstDash val="sysDash"/>
            <a:headEnd type="oval" len="lg" w="lg"/>
            <a:tailEnd type="oval" len="lg" w="lg"/>
          </a:ln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58567">
            <a:off x="10899557" y="-2048730"/>
            <a:ext cx="10441422" cy="4424552"/>
          </a:xfrm>
          <a:custGeom>
            <a:avLst/>
            <a:gdLst/>
            <a:ahLst/>
            <a:cxnLst/>
            <a:rect r="r" b="b" t="t" l="l"/>
            <a:pathLst>
              <a:path h="4424552" w="10441422">
                <a:moveTo>
                  <a:pt x="10441422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2" y="4424552"/>
                </a:lnTo>
                <a:lnTo>
                  <a:pt x="1044142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9125778">
            <a:off x="9642048" y="8630845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6" y="0"/>
                </a:lnTo>
                <a:lnTo>
                  <a:pt x="7735476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-168477" y="-348153"/>
            <a:ext cx="8500415" cy="5587359"/>
            <a:chOff x="0" y="0"/>
            <a:chExt cx="2238793" cy="14715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8793" cy="1471568"/>
            </a:xfrm>
            <a:custGeom>
              <a:avLst/>
              <a:gdLst/>
              <a:ahLst/>
              <a:cxnLst/>
              <a:rect r="r" b="b" t="t" l="l"/>
              <a:pathLst>
                <a:path h="1471568" w="2238793">
                  <a:moveTo>
                    <a:pt x="0" y="0"/>
                  </a:moveTo>
                  <a:lnTo>
                    <a:pt x="2238793" y="0"/>
                  </a:lnTo>
                  <a:lnTo>
                    <a:pt x="2238793" y="1471568"/>
                  </a:lnTo>
                  <a:lnTo>
                    <a:pt x="0" y="147156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238793" cy="1528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-1416136" y="2083271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34507" spc="-276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989320"/>
            <a:ext cx="87782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lang="uk-UA" sz="8500" b="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ОБМЕЖЕННЯ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315200"/>
            <a:ext cx="850392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uk-UA" sz="36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Дані показують виручку,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uk-UA" sz="3600" spc="100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але не прибуток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14707" y="1463040"/>
            <a:ext cx="7772400" cy="329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uk-UA" sz="1900" spc="95" b="1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ОБМЕЖЕННЯ ДАНИХ</a:t>
            </a:r>
          </a:p>
          <a:p>
            <a:pPr algn="l" marL="292608" indent="-292608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uk-UA" sz="1700" spc="95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Лише один рік: сезонність не підтвердити.</a:t>
            </a:r>
          </a:p>
          <a:p>
            <a:pPr algn="l" marL="292608" indent="-292608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uk-UA" sz="1700" spc="95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Немає собівартості й списань: економію від меню не порахувати в грошах.</a:t>
            </a:r>
          </a:p>
          <a:p>
            <a:pPr algn="l" marL="292608" indent="-292608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uk-UA" sz="1700" spc="95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Немає даних про персонал, канал продажу і клієнтів.</a:t>
            </a:r>
          </a:p>
          <a:p>
            <a:pPr algn="l" marL="292608" indent="-292608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uk-UA" sz="1700" spc="95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7 днів без продажів, причина невідома.</a:t>
            </a:r>
          </a:p>
          <a:p>
            <a:pPr algn="l" marL="292608" indent="-292608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uk-UA" sz="1700" spc="95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Оцінка +10 % не враховує вартості знижки й перетоку попиту.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14707" y="4892040"/>
            <a:ext cx="7772400" cy="292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uk-UA" sz="1900" spc="95" b="1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НАСТУПНІ КРОКИ</a:t>
            </a:r>
          </a:p>
          <a:p>
            <a:pPr algn="l" marL="292608" indent="-292608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uk-UA" sz="1700" spc="95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Отримати food cost і порахувати маржу кожної піци.</a:t>
            </a:r>
          </a:p>
          <a:p>
            <a:pPr algn="l" marL="292608" indent="-292608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uk-UA" sz="1700" spc="95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Запустити «Перерву о 14-й» як 4-тижневий тест і порівняти з тими самими годинами 2015 року.</a:t>
            </a:r>
          </a:p>
          <a:p>
            <a:pPr algn="l" marL="292608" indent="-292608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uk-UA" sz="1700" spc="95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Щомісяця оновлювати дашборд даними з каси.</a:t>
            </a:r>
          </a:p>
          <a:p>
            <a:pPr algn="l" marL="292608" indent="-292608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uk-UA" sz="1700" spc="95" b="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Додати в касу поле «зал / доставка / самовивіз».</a:t>
            </a:r>
          </a:p>
        </p:txBody>
      </p:sp>
      <p:grpSp>
        <p:nvGrpSpPr>
          <p:cNvPr name="Group 12" id="12"/>
          <p:cNvGrpSpPr/>
          <p:nvPr/>
        </p:nvGrpSpPr>
        <p:grpSpPr>
          <a:xfrm rot="5400000">
            <a:off x="12996188" y="-3041057"/>
            <a:ext cx="643045" cy="8066054"/>
            <a:chOff x="0" y="0"/>
            <a:chExt cx="169362" cy="21243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9362" cy="2124393"/>
            </a:xfrm>
            <a:custGeom>
              <a:avLst/>
              <a:gdLst/>
              <a:ahLst/>
              <a:cxnLst/>
              <a:rect r="r" b="b" t="t" l="l"/>
              <a:pathLst>
                <a:path h="2124393" w="169362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039712"/>
                  </a:lnTo>
                  <a:cubicBezTo>
                    <a:pt x="169362" y="2086480"/>
                    <a:pt x="131449" y="2124393"/>
                    <a:pt x="84681" y="2124393"/>
                  </a:cubicBezTo>
                  <a:lnTo>
                    <a:pt x="84681" y="2124393"/>
                  </a:lnTo>
                  <a:cubicBezTo>
                    <a:pt x="62222" y="2124393"/>
                    <a:pt x="40683" y="2115471"/>
                    <a:pt x="24802" y="2099590"/>
                  </a:cubicBezTo>
                  <a:cubicBezTo>
                    <a:pt x="8922" y="2083710"/>
                    <a:pt x="0" y="2062171"/>
                    <a:pt x="0" y="2039712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9362" cy="2181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737958" y="782737"/>
            <a:ext cx="249294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Рут Альбрехт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22181" y="782737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2015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62488" y="782737"/>
            <a:ext cx="1819999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1800" spc="95" b="0">
                <a:solidFill>
                  <a:srgbClr val="164B82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Pizza Sales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28310" y="5143500"/>
            <a:ext cx="8431381" cy="6106672"/>
            <a:chOff x="0" y="0"/>
            <a:chExt cx="2220611" cy="16083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0611" cy="1608342"/>
            </a:xfrm>
            <a:custGeom>
              <a:avLst/>
              <a:gdLst/>
              <a:ahLst/>
              <a:cxnLst/>
              <a:rect r="r" b="b" t="t" l="l"/>
              <a:pathLst>
                <a:path h="1608342" w="2220611">
                  <a:moveTo>
                    <a:pt x="0" y="0"/>
                  </a:moveTo>
                  <a:lnTo>
                    <a:pt x="2220611" y="0"/>
                  </a:lnTo>
                  <a:lnTo>
                    <a:pt x="2220611" y="1608342"/>
                  </a:lnTo>
                  <a:lnTo>
                    <a:pt x="0" y="1608342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220611" cy="1665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760705">
            <a:off x="1423346" y="-1948290"/>
            <a:ext cx="15441309" cy="6543255"/>
          </a:xfrm>
          <a:custGeom>
            <a:avLst/>
            <a:gdLst/>
            <a:ahLst/>
            <a:cxnLst/>
            <a:rect r="r" b="b" t="t" l="l"/>
            <a:pathLst>
              <a:path h="6543255" w="15441309">
                <a:moveTo>
                  <a:pt x="0" y="0"/>
                </a:moveTo>
                <a:lnTo>
                  <a:pt x="15441308" y="0"/>
                </a:lnTo>
                <a:lnTo>
                  <a:pt x="15441308" y="6543255"/>
                </a:lnTo>
                <a:lnTo>
                  <a:pt x="0" y="6543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4421043" y="3246120"/>
            <a:ext cx="9445915" cy="131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b="1" sz="9300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ДЯКУЮ!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35577" y="6035040"/>
            <a:ext cx="741684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4200" spc="10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ЗАПИТАННЯ?</a:t>
            </a:r>
          </a:p>
        </p:txBody>
      </p:sp>
      <p:sp>
        <p:nvSpPr>
          <p:cNvPr name="TextBox 8" id="8">
            <a:hlinkClick r:id="rId3"/>
          </p:cNvPr>
          <p:cNvSpPr txBox="true"/>
          <p:nvPr/>
        </p:nvSpPr>
        <p:spPr>
          <a:xfrm rot="0">
            <a:off x="5120640" y="8869680"/>
            <a:ext cx="80467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uk-UA" sz="1800" b="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public.tableau.com/app/profile/rut.albrekht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DAHWpd8MbjY</dc:identifier>
  <dcterms:modified xsi:type="dcterms:W3CDTF">2011-08-01T06:04:30Z</dcterms:modified>
  <cp:revision>1</cp:revision>
  <dc:title>Blue and White Gradient Modern Project Presentation</dc:title>
</cp:coreProperties>
</file>